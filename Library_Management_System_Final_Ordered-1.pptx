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65" r:id="rId3"/>
    <p:sldId id="263" r:id="rId4"/>
    <p:sldId id="266" r:id="rId5"/>
    <p:sldId id="267" r:id="rId6"/>
    <p:sldId id="273" r:id="rId7"/>
    <p:sldId id="269" r:id="rId8"/>
    <p:sldId id="274" r:id="rId9"/>
    <p:sldId id="275" r:id="rId10"/>
    <p:sldId id="279" r:id="rId11"/>
    <p:sldId id="280" r:id="rId12"/>
    <p:sldId id="281" r:id="rId13"/>
    <p:sldId id="282" r:id="rId14"/>
    <p:sldId id="283" r:id="rId15"/>
    <p:sldId id="276" r:id="rId16"/>
    <p:sldId id="277" r:id="rId17"/>
    <p:sldId id="278" r:id="rId18"/>
    <p:sldId id="272" r:id="rId19"/>
  </p:sldIdLst>
  <p:sldSz cx="12192000" cy="6858000"/>
  <p:notesSz cx="12192000" cy="6858000"/>
  <p:embeddedFontLst>
    <p:embeddedFont>
      <p:font typeface="Arial Black" panose="020B0A04020102020204" pitchFamily="34" charset="0"/>
      <p:bold r:id="rId21"/>
    </p:embeddedFont>
    <p:embeddedFont>
      <p:font typeface="Arial Narrow" panose="020B0606020202030204" pitchFamily="34" charset="0"/>
      <p:regular r:id="rId22"/>
      <p:bold r:id="rId23"/>
      <p:italic r:id="rId24"/>
      <p:boldItalic r:id="rId25"/>
    </p:embeddedFont>
    <p:embeddedFont>
      <p:font typeface="Bookman Old Style" panose="02050604050505020204" pitchFamily="18" charset="0"/>
      <p:regular r:id="rId26"/>
      <p:bold r:id="rId27"/>
      <p:italic r:id="rId28"/>
      <p:boldItalic r:id="rId29"/>
    </p:embeddedFont>
  </p:embeddedFontLst>
  <p:defaultTextStyle>
    <a:defPPr>
      <a:defRPr lang="en-US"/>
    </a:defPPr>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2F484E2-D13C-4198-809A-BEC5E46278DC}" styleName="Style 3">
    <a:wholeTbl>
      <a:tcTxStyle>
        <a:fontRef idx="minor">
          <a:srgbClr val="000000"/>
        </a:fontRef>
        <a:schemeClr val="tx1"/>
      </a:tcTxStyle>
      <a:tcStyle>
        <a:tcBdr>
          <a:left>
            <a:ln w="12700">
              <a:solidFill>
                <a:schemeClr val="accent1"/>
              </a:solidFill>
            </a:ln>
          </a:left>
          <a:right>
            <a:ln w="12700">
              <a:solidFill>
                <a:schemeClr val="accent1"/>
              </a:solidFill>
            </a:ln>
          </a:right>
          <a:top>
            <a:ln w="12700">
              <a:solidFill>
                <a:schemeClr val="accent1"/>
              </a:solidFill>
            </a:ln>
          </a:top>
          <a:bottom>
            <a:ln w="12700">
              <a:solidFill>
                <a:schemeClr val="accent1"/>
              </a:solidFill>
            </a:ln>
          </a:bottom>
          <a:insideH>
            <a:ln w="12700">
              <a:solidFill>
                <a:schemeClr val="accent1"/>
              </a:solidFill>
            </a:ln>
          </a:insideH>
          <a:insideV>
            <a:ln w="12700">
              <a:solidFill>
                <a:schemeClr val="accent1"/>
              </a:solidFill>
            </a:ln>
          </a:insideV>
        </a:tcBdr>
        <a:fill>
          <a:noFill/>
        </a:fill>
      </a:tcStyle>
    </a:wholeTbl>
    <a:band1H>
      <a:tcStyle>
        <a:tcBdr/>
        <a:fill>
          <a:solidFill>
            <a:schemeClr val="accent1">
              <a:alpha val="19999"/>
            </a:schemeClr>
          </a:solidFill>
        </a:fill>
      </a:tcStyle>
    </a:band1H>
    <a:band1V>
      <a:tcStyle>
        <a:tcBdr/>
        <a:fill>
          <a:solidFill>
            <a:schemeClr val="accent1">
              <a:alpha val="19999"/>
            </a:schemeClr>
          </a:solidFill>
        </a:fill>
      </a:tcStyle>
    </a:band1V>
    <a:lastCol>
      <a:tcTxStyle b="on"/>
      <a:tcStyle>
        <a:tcBdr/>
      </a:tcStyle>
    </a:lastCol>
    <a:firstCol>
      <a:tcTxStyle b="on"/>
      <a:tcStyle>
        <a:tcBdr/>
      </a:tcStyle>
    </a:firstCol>
    <a:lastRow>
      <a:tcTxStyle b="on"/>
      <a:tcStyle>
        <a:tcBdr>
          <a:top>
            <a:ln w="50800">
              <a:solidFill>
                <a:schemeClr val="accent1"/>
              </a:solidFill>
            </a:ln>
          </a:top>
        </a:tcBdr>
        <a:fill>
          <a:noFill/>
        </a:fill>
      </a:tcStyle>
    </a:lastRow>
    <a:firstRow>
      <a:tcTxStyle b="on"/>
      <a:tcStyle>
        <a:tcBdr>
          <a:bottom>
            <a:ln w="25400">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2"/>
  </p:normalViewPr>
  <p:slideViewPr>
    <p:cSldViewPr snapToGrid="0">
      <p:cViewPr varScale="1">
        <p:scale>
          <a:sx n="91" d="100"/>
          <a:sy n="91" d="100"/>
        </p:scale>
        <p:origin x="341" y="5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Babu G" userId="87be56d527f053c4" providerId="LiveId" clId="{B4E09E7F-9D70-4BA6-B680-311F76BF683E}"/>
    <pc:docChg chg="custSel modSld">
      <pc:chgData name="RamBabu G" userId="87be56d527f053c4" providerId="LiveId" clId="{B4E09E7F-9D70-4BA6-B680-311F76BF683E}" dt="2026-09-30T15:58:20.771" v="14" actId="14100"/>
      <pc:docMkLst>
        <pc:docMk/>
      </pc:docMkLst>
      <pc:sldChg chg="delSp modSp mod">
        <pc:chgData name="RamBabu G" userId="87be56d527f053c4" providerId="LiveId" clId="{B4E09E7F-9D70-4BA6-B680-311F76BF683E}" dt="2026-09-30T15:56:52.589" v="3" actId="14100"/>
        <pc:sldMkLst>
          <pc:docMk/>
          <pc:sldMk cId="0" sldId="280"/>
        </pc:sldMkLst>
        <pc:spChg chg="mod">
          <ac:chgData name="RamBabu G" userId="87be56d527f053c4" providerId="LiveId" clId="{B4E09E7F-9D70-4BA6-B680-311F76BF683E}" dt="2026-09-30T15:56:52.589" v="3" actId="14100"/>
          <ac:spMkLst>
            <pc:docMk/>
            <pc:sldMk cId="0" sldId="280"/>
            <ac:spMk id="6" creationId="{00000000-0000-0000-0000-000000000000}"/>
          </ac:spMkLst>
        </pc:spChg>
        <pc:picChg chg="del">
          <ac:chgData name="RamBabu G" userId="87be56d527f053c4" providerId="LiveId" clId="{B4E09E7F-9D70-4BA6-B680-311F76BF683E}" dt="2026-09-30T15:56:11.946" v="1" actId="478"/>
          <ac:picMkLst>
            <pc:docMk/>
            <pc:sldMk cId="0" sldId="280"/>
            <ac:picMk id="40" creationId="{1B5A0518-1CDA-CA94-327E-0995E9EC2B84}"/>
          </ac:picMkLst>
        </pc:picChg>
      </pc:sldChg>
      <pc:sldChg chg="delSp modSp mod">
        <pc:chgData name="RamBabu G" userId="87be56d527f053c4" providerId="LiveId" clId="{B4E09E7F-9D70-4BA6-B680-311F76BF683E}" dt="2026-09-30T15:57:19.936" v="7" actId="14100"/>
        <pc:sldMkLst>
          <pc:docMk/>
          <pc:sldMk cId="0" sldId="281"/>
        </pc:sldMkLst>
        <pc:spChg chg="mod">
          <ac:chgData name="RamBabu G" userId="87be56d527f053c4" providerId="LiveId" clId="{B4E09E7F-9D70-4BA6-B680-311F76BF683E}" dt="2026-09-30T15:57:09.757" v="5" actId="14100"/>
          <ac:spMkLst>
            <pc:docMk/>
            <pc:sldMk cId="0" sldId="281"/>
            <ac:spMk id="6" creationId="{00000000-0000-0000-0000-000000000000}"/>
          </ac:spMkLst>
        </pc:spChg>
        <pc:spChg chg="mod">
          <ac:chgData name="RamBabu G" userId="87be56d527f053c4" providerId="LiveId" clId="{B4E09E7F-9D70-4BA6-B680-311F76BF683E}" dt="2026-09-30T15:57:19.936" v="7" actId="14100"/>
          <ac:spMkLst>
            <pc:docMk/>
            <pc:sldMk cId="0" sldId="281"/>
            <ac:spMk id="27" creationId="{00000000-0000-0000-0000-000000000000}"/>
          </ac:spMkLst>
        </pc:spChg>
        <pc:picChg chg="del">
          <ac:chgData name="RamBabu G" userId="87be56d527f053c4" providerId="LiveId" clId="{B4E09E7F-9D70-4BA6-B680-311F76BF683E}" dt="2026-09-30T15:57:04.148" v="4" actId="478"/>
          <ac:picMkLst>
            <pc:docMk/>
            <pc:sldMk cId="0" sldId="281"/>
            <ac:picMk id="60" creationId="{1B5A0518-1CDA-CA94-327E-0995E9EC2B84}"/>
          </ac:picMkLst>
        </pc:picChg>
      </pc:sldChg>
      <pc:sldChg chg="delSp modSp mod">
        <pc:chgData name="RamBabu G" userId="87be56d527f053c4" providerId="LiveId" clId="{B4E09E7F-9D70-4BA6-B680-311F76BF683E}" dt="2026-09-30T15:58:02.369" v="12" actId="14100"/>
        <pc:sldMkLst>
          <pc:docMk/>
          <pc:sldMk cId="0" sldId="282"/>
        </pc:sldMkLst>
        <pc:spChg chg="mod">
          <ac:chgData name="RamBabu G" userId="87be56d527f053c4" providerId="LiveId" clId="{B4E09E7F-9D70-4BA6-B680-311F76BF683E}" dt="2026-09-30T15:58:02.369" v="12" actId="14100"/>
          <ac:spMkLst>
            <pc:docMk/>
            <pc:sldMk cId="0" sldId="282"/>
            <ac:spMk id="6" creationId="{00000000-0000-0000-0000-000000000000}"/>
          </ac:spMkLst>
        </pc:spChg>
        <pc:spChg chg="mod">
          <ac:chgData name="RamBabu G" userId="87be56d527f053c4" providerId="LiveId" clId="{B4E09E7F-9D70-4BA6-B680-311F76BF683E}" dt="2026-09-30T15:57:58.376" v="11" actId="14100"/>
          <ac:spMkLst>
            <pc:docMk/>
            <pc:sldMk cId="0" sldId="282"/>
            <ac:spMk id="28" creationId="{00000000-0000-0000-0000-000000000000}"/>
          </ac:spMkLst>
        </pc:spChg>
        <pc:picChg chg="del">
          <ac:chgData name="RamBabu G" userId="87be56d527f053c4" providerId="LiveId" clId="{B4E09E7F-9D70-4BA6-B680-311F76BF683E}" dt="2026-09-30T15:57:41.684" v="8" actId="478"/>
          <ac:picMkLst>
            <pc:docMk/>
            <pc:sldMk cId="0" sldId="282"/>
            <ac:picMk id="40" creationId="{1B5A0518-1CDA-CA94-327E-0995E9EC2B84}"/>
          </ac:picMkLst>
        </pc:picChg>
      </pc:sldChg>
      <pc:sldChg chg="delSp modSp mod">
        <pc:chgData name="RamBabu G" userId="87be56d527f053c4" providerId="LiveId" clId="{B4E09E7F-9D70-4BA6-B680-311F76BF683E}" dt="2026-09-30T15:58:20.771" v="14" actId="14100"/>
        <pc:sldMkLst>
          <pc:docMk/>
          <pc:sldMk cId="0" sldId="283"/>
        </pc:sldMkLst>
        <pc:spChg chg="mod">
          <ac:chgData name="RamBabu G" userId="87be56d527f053c4" providerId="LiveId" clId="{B4E09E7F-9D70-4BA6-B680-311F76BF683E}" dt="2026-09-30T15:58:20.771" v="14" actId="14100"/>
          <ac:spMkLst>
            <pc:docMk/>
            <pc:sldMk cId="0" sldId="283"/>
            <ac:spMk id="6" creationId="{00000000-0000-0000-0000-000000000000}"/>
          </ac:spMkLst>
        </pc:spChg>
        <pc:picChg chg="del">
          <ac:chgData name="RamBabu G" userId="87be56d527f053c4" providerId="LiveId" clId="{B4E09E7F-9D70-4BA6-B680-311F76BF683E}" dt="2026-09-30T15:58:15.424" v="13" actId="478"/>
          <ac:picMkLst>
            <pc:docMk/>
            <pc:sldMk cId="0" sldId="283"/>
            <ac:picMk id="52" creationId="{1B5A0518-1CDA-CA94-327E-0995E9EC2B8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B65459-4C01-9248-BDAA-F28591FAF6F5}" type="datetimeFigureOut">
              <a:rPr lang="en-US" smtClean="0"/>
              <a:pPr/>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327042-6B61-B148-8485-8BBBFAA13D24}" type="slidenum">
              <a:rPr lang="en-US" smtClean="0"/>
              <a:pPr/>
              <a:t>‹#›</a:t>
            </a:fld>
            <a:endParaRPr lang="en-US"/>
          </a:p>
        </p:txBody>
      </p:sp>
    </p:spTree>
    <p:extLst>
      <p:ext uri="{BB962C8B-B14F-4D97-AF65-F5344CB8AC3E}">
        <p14:creationId xmlns:p14="http://schemas.microsoft.com/office/powerpoint/2010/main" val="1080321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1"/>
          <p:cNvSpPr>
            <a:spLocks noGrp="1" noChangeArrowheads="1"/>
          </p:cNvSpPr>
          <p:nvPr>
            <p:ph type="body" idx="1"/>
          </p:nvPr>
        </p:nvSpPr>
        <p:spPr>
          <a:noFill/>
          <a:ln/>
        </p:spPr>
        <p:txBody>
          <a:bodyPr rtlCol="0"/>
          <a:lstStyle/>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pPr/>
              <a:t>2</a:t>
            </a:fld>
            <a:endParaRPr lang="en-US"/>
          </a:p>
        </p:txBody>
      </p:sp>
    </p:spTree>
    <p:extLst>
      <p:ext uri="{BB962C8B-B14F-4D97-AF65-F5344CB8AC3E}">
        <p14:creationId xmlns:p14="http://schemas.microsoft.com/office/powerpoint/2010/main" val="43334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9327042-6B61-B148-8485-8BBBFAA13D24}" type="slidenum">
              <a:rPr lang="en-US" smtClean="0"/>
              <a:pPr/>
              <a:t>7</a:t>
            </a:fld>
            <a:endParaRPr lang="en-US"/>
          </a:p>
        </p:txBody>
      </p:sp>
    </p:spTree>
    <p:extLst>
      <p:ext uri="{BB962C8B-B14F-4D97-AF65-F5344CB8AC3E}">
        <p14:creationId xmlns:p14="http://schemas.microsoft.com/office/powerpoint/2010/main" val="3404263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3DCFA7E3-AF1E-4675-AD18-D5B679F37F4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4E6D2F1-D737-43DE-B4CE-C454EF7BBD4A}"/>
              </a:ext>
            </a:extLst>
          </p:cNvPr>
          <p:cNvSpPr>
            <a:spLocks noGrp="1"/>
          </p:cNvSpPr>
          <p:nvPr>
            <p:ph type="title"/>
          </p:nvPr>
        </p:nvSpPr>
        <p:spPr>
          <a:xfrm>
            <a:off x="1524000" y="1854199"/>
            <a:ext cx="9144000" cy="1655763"/>
          </a:xfrm>
        </p:spPr>
        <p:txBody>
          <a:bodyPr rtlCol="0" anchor="b"/>
          <a:lstStyle>
            <a:lvl1pPr lvl="0" algn="ctr">
              <a:defRPr lang="en-US" sz="6000" dirty="0"/>
            </a:lvl1pPr>
          </a:lstStyle>
          <a:p>
            <a:r>
              <a:rPr lang="en-US"/>
              <a:t>Click to edit Master title style</a:t>
            </a:r>
          </a:p>
        </p:txBody>
      </p:sp>
      <p:sp>
        <p:nvSpPr>
          <p:cNvPr id="3" name="Subtitle 2">
            <a:extLst>
              <a:ext uri="{32171CF1-2CD1-4848-A55A-5A508E25A32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04F51DF-EF08-4C97-A330-FD7D92F0EA98}"/>
              </a:ext>
            </a:extLst>
          </p:cNvPr>
          <p:cNvSpPr>
            <a:spLocks noGrp="1"/>
          </p:cNvSpPr>
          <p:nvPr>
            <p:ph type="subTitle" idx="1"/>
          </p:nvPr>
        </p:nvSpPr>
        <p:spPr>
          <a:xfrm>
            <a:off x="1524000" y="3602038"/>
            <a:ext cx="9144000" cy="1655762"/>
          </a:xfrm>
        </p:spPr>
        <p:txBody>
          <a:bodyPr rtlCol="0"/>
          <a:lstStyle>
            <a:lvl1pPr marL="0" lvl="0" indent="0" algn="ctr">
              <a:buNone/>
              <a:defRPr lang="en-US" sz="2400" dirty="0"/>
            </a:lvl1pPr>
            <a:lvl2pPr marL="457200" lvl="1" indent="0" algn="ctr">
              <a:buNone/>
              <a:defRPr lang="en-US" sz="2000" dirty="0"/>
            </a:lvl2pPr>
            <a:lvl3pPr marL="914400" lvl="2" indent="0" algn="ctr">
              <a:buNone/>
              <a:defRPr lang="en-US" sz="1800" dirty="0"/>
            </a:lvl3pPr>
            <a:lvl4pPr marL="1371600" lvl="3" indent="0" algn="ctr">
              <a:buNone/>
              <a:defRPr lang="en-US" sz="1600" dirty="0"/>
            </a:lvl4pPr>
            <a:lvl5pPr marL="1828800" lvl="4" indent="0" algn="ctr">
              <a:buNone/>
              <a:defRPr lang="en-US" sz="1600" dirty="0"/>
            </a:lvl5pPr>
            <a:lvl6pPr marL="2286000" lvl="5" indent="0" algn="ctr">
              <a:buNone/>
              <a:defRPr lang="en-US" sz="1600" dirty="0"/>
            </a:lvl6pPr>
            <a:lvl7pPr marL="2743200" lvl="6" indent="0" algn="ctr">
              <a:buNone/>
              <a:defRPr lang="en-US" sz="1600" dirty="0"/>
            </a:lvl7pPr>
            <a:lvl8pPr marL="3200400" lvl="7" indent="0" algn="ctr">
              <a:buNone/>
              <a:defRPr lang="en-US" sz="1600" dirty="0"/>
            </a:lvl8pPr>
            <a:lvl9pPr marL="3657600" lvl="8" indent="0" algn="ctr">
              <a:buNone/>
              <a:defRPr lang="en-US" sz="1600" dirty="0"/>
            </a:lvl9pPr>
          </a:lstStyle>
          <a:p>
            <a:r>
              <a:rPr lang="en-US"/>
              <a:t>Click to edit Master subtitle style</a:t>
            </a:r>
          </a:p>
        </p:txBody>
      </p:sp>
      <p:pic>
        <p:nvPicPr>
          <p:cNvPr id="4" name="Picture 3">
            <a:extLst>
              <a:ext uri="{C1EB77FD-C848-422B-B273-451CDA41F4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21682ECF-C071-4F62-8564-87ABCCA31ACA}"/>
              </a:ext>
            </a:extLst>
          </p:cNvPr>
          <p:cNvPicPr>
            <a:picLocks noChangeAspect="1"/>
          </p:cNvPicPr>
          <p:nvPr userDrawn="1"/>
        </p:nvPicPr>
        <p:blipFill>
          <a:blip r:embed="rId2"/>
          <a:stretch>
            <a:fillRect/>
          </a:stretch>
        </p:blipFill>
        <p:spPr>
          <a:xfrm>
            <a:off x="2567608" y="592088"/>
            <a:ext cx="7609140" cy="1008112"/>
          </a:xfrm>
          <a:prstGeom prst="rect">
            <a:avLst/>
          </a:prstGeom>
          <a:noFill/>
        </p:spPr>
      </p:pic>
      <p:sp>
        <p:nvSpPr>
          <p:cNvPr id="5" name="Footer Placeholder 4">
            <a:extLst>
              <a:ext uri="{C687AB22-C009-4796-A595-4B274F53E9E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19EC38CB-622C-4106-803A-85E3D5477226}"/>
              </a:ext>
            </a:extLst>
          </p:cNvPr>
          <p:cNvSpPr>
            <a:spLocks noGrp="1"/>
          </p:cNvSpPr>
          <p:nvPr>
            <p:ph type="ftr" sz="quarter" idx="11"/>
          </p:nvPr>
        </p:nvSpPr>
        <p:spPr/>
        <p:txBody>
          <a:bodyPr rtlCol="0"/>
          <a:lstStyle>
            <a:lvl1pPr lvl="0"/>
          </a:lstStyle>
          <a:p>
            <a:r>
              <a:rPr lang="en-US"/>
              <a:t>Footer</a:t>
            </a:r>
          </a:p>
        </p:txBody>
      </p:sp>
      <p:sp>
        <p:nvSpPr>
          <p:cNvPr id="6" name="Slide Number Placeholder 5">
            <a:extLst>
              <a:ext uri="{30F4214F-3E4E-4B8B-8AC2-BF59D50B2CD1}">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25D679E-58E0-45F1-BEFC-163C6EEC181D}"/>
              </a:ext>
            </a:extLst>
          </p:cNvPr>
          <p:cNvSpPr>
            <a:spLocks noGrp="1"/>
          </p:cNvSpPr>
          <p:nvPr>
            <p:ph type="sldNum" sz="quarter" idx="12"/>
          </p:nvPr>
        </p:nvSpPr>
        <p:spPr/>
        <p:txBody>
          <a:bodyPr rtlCol="0"/>
          <a:lstStyle>
            <a:lvl1pPr lvl="0"/>
          </a:lstStyle>
          <a:p>
            <a:r>
              <a:rPr lang="en-US"/>
              <a:t>&lt;#&gt;</a:t>
            </a:r>
          </a:p>
        </p:txBody>
      </p:sp>
      <p:sp>
        <p:nvSpPr>
          <p:cNvPr id="7" name="Date Placeholder 3">
            <a:extLst>
              <a:ext uri="{02364871-6258-47BB-A41D-1E9BEBD3EA96}">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E775BF1-9C64-4531-A7E2-730347FD3CA5}"/>
              </a:ext>
            </a:extLst>
          </p:cNvPr>
          <p:cNvSpPr>
            <a:spLocks noGrp="1"/>
          </p:cNvSpPr>
          <p:nvPr>
            <p:ph type="dt" sz="half" idx="10"/>
          </p:nvPr>
        </p:nvSpPr>
        <p:spPr/>
        <p:txBody>
          <a:bodyPr rtlCol="0"/>
          <a:lstStyle>
            <a:lvl1pPr lvl="0"/>
          </a:lstStyle>
          <a:p>
            <a:r>
              <a:rPr lang="en-US"/>
              <a:t>Date</a:t>
            </a:r>
          </a:p>
        </p:txBody>
      </p:sp>
    </p:spTree>
    <p:extLst>
      <p:ext uri="{7D129387-9967-4C73-939D-69EF041DFD9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Content Placeholder 2">
            <a:extLst>
              <a:ext uri="{05269A97-DC81-49F9-B896-84CAB659C6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56F5785-025F-4915-96E3-0AFF7163BC15}"/>
              </a:ext>
            </a:extLst>
          </p:cNvPr>
          <p:cNvSpPr>
            <a:spLocks noGrp="1"/>
          </p:cNvSpPr>
          <p:nvPr>
            <p:ph/>
          </p:nvPr>
        </p:nvSpPr>
        <p:spPr>
          <a:xfrm>
            <a:off x="869085" y="1561876"/>
            <a:ext cx="10515600" cy="4531419"/>
          </a:xfrm>
        </p:spPr>
        <p:txBody>
          <a:bodyPr rtlCol="0"/>
          <a:lstStyle>
            <a:lvl1pPr marL="457200" lvl="0" indent="0">
              <a:buNone/>
            </a:lvl1pPr>
            <a:lvl2pPr marL="914400" lvl="1" indent="0">
              <a:buNone/>
            </a:lvl2pPr>
            <a:lvl3pPr marL="1371600" lvl="2" indent="0">
              <a:buNone/>
            </a:lvl3pPr>
            <a:lvl4pPr marL="1828800" lvl="3" indent="0">
              <a:buNone/>
            </a:lvl4pPr>
          </a:lstStyle>
          <a:p>
            <a:pPr lvl="0"/>
            <a:r>
              <a:rPr lang="en-US"/>
              <a:t>Click to edit Master text styles</a:t>
            </a:r>
          </a:p>
        </p:txBody>
      </p:sp>
      <p:sp>
        <p:nvSpPr>
          <p:cNvPr id="3" name="Date Placeholder 2">
            <a:extLst>
              <a:ext uri="{C7EE3D1E-6A2F-4B40-9445-6784FC740ACE}">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4C561F3-3431-4CB3-94B3-3A3D9CDA63D8}"/>
              </a:ext>
            </a:extLst>
          </p:cNvPr>
          <p:cNvSpPr>
            <a:spLocks noGrp="1"/>
          </p:cNvSpPr>
          <p:nvPr>
            <p:ph type="dt" sz="half" idx="1"/>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ADCE28B6-DBFE-4620-B95B-46D05A4EFA88}" type="datetime1">
              <a:rPr lang="en-US"/>
              <a:pPr/>
              <a:t>9/30/2026</a:t>
            </a:fld>
            <a:endParaRPr lang="en-US"/>
          </a:p>
        </p:txBody>
      </p:sp>
      <p:sp>
        <p:nvSpPr>
          <p:cNvPr id="4" name="Footer Placeholder 3">
            <a:extLst>
              <a:ext uri="{E2B100E3-D1A2-4814-971B-1F28BC986B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56403740-14DB-4D0C-AC81-1640F2592B4A}"/>
              </a:ext>
            </a:extLst>
          </p:cNvPr>
          <p:cNvSpPr>
            <a:spLocks noGrp="1"/>
          </p:cNvSpPr>
          <p:nvPr>
            <p:ph type="ftr" sz="quarter" idx="2"/>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pic>
        <p:nvPicPr>
          <p:cNvPr id="5" name="Picture 2">
            <a:extLst>
              <a:ext uri="{DAD87817-DB1B-4DE8-BD41-41BB3E99A74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D3518EA9-28E9-4397-BCB4-F5D7ABFF9E3A}"/>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6" name="Slide Number Placeholder 3">
            <a:extLst>
              <a:ext uri="{8B62DEED-5952-4478-9464-706CCDCB22D5}">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265A311-D434-4806-B3C0-ED40E2B04ADB}"/>
              </a:ext>
            </a:extLst>
          </p:cNvPr>
          <p:cNvSpPr>
            <a:spLocks noGrp="1"/>
          </p:cNvSpPr>
          <p:nvPr>
            <p:ph type="sldNum" sz="quarter" idx="3"/>
          </p:nvPr>
        </p:nvSpPr>
        <p:spPr>
          <a:xfrm>
            <a:off x="10272464" y="6356350"/>
            <a:ext cx="1081336" cy="365125"/>
          </a:xfrm>
        </p:spPr>
        <p:txBody>
          <a:bodyPr rtlCol="0"/>
          <a:lstStyle/>
          <a:p>
            <a:fld id="{9359D16F-76A5-41BA-ADDD-CBF352B33DDD}" type="slidenum">
              <a:rPr/>
              <a:pPr/>
              <a:t>‹#›</a:t>
            </a:fld>
            <a:endParaRPr lang="en-US"/>
          </a:p>
        </p:txBody>
      </p:sp>
    </p:spTree>
    <p:extLst>
      <p:ext uri="{E791D5F0-FCE4-45B8-828D-F7D7E855498A}">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2">
            <a:extLst>
              <a:ext uri="{2A124749-B5E7-4428-BF59-41C47B6A612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8CFA2DB-E1A9-463A-BC5A-35A8CCF5293E}"/>
              </a:ext>
            </a:extLst>
          </p:cNvPr>
          <p:cNvPicPr>
            <a:picLocks noChangeAspect="1" noChangeArrowheads="1"/>
          </p:cNvPicPr>
          <p:nvPr userDrawn="1"/>
        </p:nvPicPr>
        <p:blipFill>
          <a:blip r:embed="rId2"/>
          <a:stretch>
            <a:fillRect/>
          </a:stretch>
        </p:blipFill>
        <p:spPr>
          <a:xfrm>
            <a:off x="-240709" y="-243408"/>
            <a:ext cx="3249644" cy="1800000"/>
          </a:xfrm>
          <a:prstGeom prst="rect">
            <a:avLst/>
          </a:prstGeom>
          <a:noFill/>
        </p:spPr>
      </p:pic>
      <p:sp>
        <p:nvSpPr>
          <p:cNvPr id="3" name="Date Placeholder 2">
            <a:extLst>
              <a:ext uri="{E7A761B9-81CB-49B2-8BE6-983B6B07B3D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8F471AC3-982D-4B96-9E59-D3B6F74D9039}"/>
              </a:ext>
            </a:extLst>
          </p:cNvPr>
          <p:cNvSpPr>
            <a:spLocks noGrp="1"/>
          </p:cNvSpPr>
          <p:nvPr>
            <p:ph type="dt" sz="half" idx="10"/>
          </p:nvPr>
        </p:nvSpPr>
        <p:spPr>
          <a:xfrm>
            <a:off x="695400" y="6278769"/>
            <a:ext cx="1656183" cy="365125"/>
          </a:xfrm>
          <a:ln>
            <a:noFill/>
          </a:ln>
        </p:spPr>
        <p:txBody>
          <a:bodyPr rtlCol="0"/>
          <a:lstStyle>
            <a:lvl1pPr lvl="0">
              <a:defRPr lang="en-US" b="1" dirty="0">
                <a:solidFill>
                  <a:schemeClr val="bg1">
                    <a:lumMod val="50000"/>
                  </a:schemeClr>
                </a:solidFill>
                <a:latin typeface="+mn-lt"/>
              </a:defRPr>
            </a:lvl1pPr>
          </a:lstStyle>
          <a:p>
            <a:fld id="{B13D2877-58CC-4844-975B-B8D6496C43E9}" type="datetime1">
              <a:rPr lang="en-US"/>
              <a:pPr/>
              <a:t>9/30/2026</a:t>
            </a:fld>
            <a:endParaRPr lang="en-US"/>
          </a:p>
        </p:txBody>
      </p:sp>
      <p:sp>
        <p:nvSpPr>
          <p:cNvPr id="4" name="Footer Placeholder 3">
            <a:extLst>
              <a:ext uri="{7A687B93-B742-4FC6-AC3F-36C63D4DF72A}">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5844C2E-6153-4C88-A824-95DE18C30385}"/>
              </a:ext>
            </a:extLst>
          </p:cNvPr>
          <p:cNvSpPr>
            <a:spLocks noGrp="1"/>
          </p:cNvSpPr>
          <p:nvPr>
            <p:ph type="ftr" sz="quarter" idx="11"/>
          </p:nvPr>
        </p:nvSpPr>
        <p:spPr>
          <a:xfrm>
            <a:off x="2567608" y="6278771"/>
            <a:ext cx="6912768" cy="365125"/>
          </a:xfrm>
          <a:ln>
            <a:noFill/>
          </a:ln>
        </p:spPr>
        <p:txBody>
          <a:bodyPr rtlCol="0"/>
          <a:lstStyle>
            <a:lvl1pPr lvl="0">
              <a:defRPr lang="en-US" b="1" dirty="0">
                <a:solidFill>
                  <a:schemeClr val="bg1">
                    <a:lumMod val="50000"/>
                  </a:schemeClr>
                </a:solidFill>
                <a:latin typeface="+mn-lt"/>
              </a:defRPr>
            </a:lvl1pPr>
          </a:lstStyle>
          <a:p>
            <a:r>
              <a:rPr lang="en-US"/>
              <a:t>DL&amp;CO                                                                G.LAVARAJU, Associate Professor, CSE</a:t>
            </a:r>
          </a:p>
        </p:txBody>
      </p:sp>
      <p:sp>
        <p:nvSpPr>
          <p:cNvPr id="5" name="Slide Number Placeholder 3">
            <a:extLst>
              <a:ext uri="{A59E037D-D639-4F65-9477-94A0EBCDC4E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EC0A76B5-951D-4394-8F2D-A4E34AC06D08}"/>
              </a:ext>
            </a:extLst>
          </p:cNvPr>
          <p:cNvSpPr>
            <a:spLocks noGrp="1"/>
          </p:cNvSpPr>
          <p:nvPr>
            <p:ph type="sldNum" sz="quarter" idx="12"/>
          </p:nvPr>
        </p:nvSpPr>
        <p:spPr>
          <a:xfrm>
            <a:off x="10272464" y="6356350"/>
            <a:ext cx="1081336" cy="365125"/>
          </a:xfrm>
        </p:spPr>
        <p:txBody>
          <a:bodyPr rtlCol="0"/>
          <a:lstStyle/>
          <a:p>
            <a:fld id="{D9C5B093-D3DD-4808-813A-F58BF8E67773}" type="slidenum">
              <a:rPr/>
              <a:pPr/>
              <a:t>‹#›</a:t>
            </a:fld>
            <a:endParaRPr lang="en-US"/>
          </a:p>
        </p:txBody>
      </p:sp>
    </p:spTree>
    <p:extLst>
      <p:ext uri="{917857EF-1D39-4225-A829-037EB1D27937}">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Master1">
    <p:bg>
      <p:bgRef idx="1001">
        <a:schemeClr val="bg1"/>
      </p:bgRef>
    </p:bg>
    <p:spTree>
      <p:nvGrpSpPr>
        <p:cNvPr id="1" name=""/>
        <p:cNvGrpSpPr/>
        <p:nvPr/>
      </p:nvGrpSpPr>
      <p:grpSpPr>
        <a:xfrm>
          <a:off x="0" y="0"/>
          <a:ext cx="0" cy="0"/>
          <a:chOff x="0" y="0"/>
          <a:chExt cx="0" cy="0"/>
        </a:xfrm>
      </p:grpSpPr>
      <p:sp>
        <p:nvSpPr>
          <p:cNvPr id="2" name="Title Placeholder 1">
            <a:extLst>
              <a:ext uri="{48EA39CE-E158-4B2A-99CD-545B14A22D34}">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4313CDBB-BA82-4DED-973B-07A500BC5C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76CEBE57-5AC2-4233-9D99-CAE469A4C85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438A3C5-0C27-48D9-9FD4-D716863017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5757E326-5F3E-43A1-830E-27FE2CE96B3D}">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A1FB99B2-34CB-4F0C-AABD-9CC4327C4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lvl="0" algn="l">
              <a:defRPr lang="en-US" sz="1200" dirty="0">
                <a:solidFill>
                  <a:schemeClr val="tx1">
                    <a:tint val="75000"/>
                  </a:schemeClr>
                </a:solidFill>
              </a:defRPr>
            </a:lvl1pPr>
          </a:lstStyle>
          <a:p>
            <a:fld id="{A0623D07-B41D-4865-9117-A59235B241FC}" type="datetime1">
              <a:rPr lang="en-US"/>
              <a:pPr/>
              <a:t>9/30/2026</a:t>
            </a:fld>
            <a:endParaRPr lang="en-US"/>
          </a:p>
        </p:txBody>
      </p:sp>
      <p:sp>
        <p:nvSpPr>
          <p:cNvPr id="5" name="Footer Placeholder 4">
            <a:extLst>
              <a:ext uri="{71906065-35B4-4935-A9D1-FD668DE1E598}">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F7A5B885-A2DA-46BA-BC42-719D5CA3E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lvl="0" algn="ctr">
              <a:defRPr lang="en-US" sz="1200" dirty="0">
                <a:solidFill>
                  <a:schemeClr val="tx1">
                    <a:tint val="75000"/>
                  </a:schemeClr>
                </a:solidFill>
              </a:defRPr>
            </a:lvl1pPr>
          </a:lstStyle>
          <a:p>
            <a:r>
              <a:rPr lang="en-US"/>
              <a:t>DL&amp;CO                                                                G.LAVARAJU, Associate Professor, CSE</a:t>
            </a:r>
          </a:p>
        </p:txBody>
      </p:sp>
      <p:sp>
        <p:nvSpPr>
          <p:cNvPr id="6" name="Slide Number Placeholder 5">
            <a:extLst>
              <a:ext uri="{35F2950A-B1CB-4727-AB58-367C2C82CEAF}">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9979ABAE-2F0E-462F-935B-AC49E1A2F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lvl="0" algn="r">
              <a:defRPr lang="en-US" sz="1200" dirty="0">
                <a:solidFill>
                  <a:schemeClr val="tx1">
                    <a:tint val="75000"/>
                  </a:schemeClr>
                </a:solidFill>
              </a:defRPr>
            </a:lvl1pPr>
          </a:lstStyle>
          <a:p>
            <a:fld id="{C0FA9481-3A84-418C-9FCC-1F8C2D158F80}" type="slidenum">
              <a: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lvl="0" algn="l" rtl="0">
        <a:lnSpc>
          <a:spcPct val="90000"/>
        </a:lnSpc>
        <a:spcBef>
          <a:spcPct val="0"/>
        </a:spcBef>
        <a:buNone/>
        <a:defRPr lang="en-US" sz="4400" dirty="0">
          <a:solidFill>
            <a:schemeClr val="tx1"/>
          </a:solidFill>
          <a:latin typeface="+mj-lt"/>
        </a:defRPr>
      </a:lvl1pPr>
    </p:titleStyle>
    <p:bodyStyle>
      <a:lvl1pPr marL="228600" lvl="0" indent="-228600" algn="l" rtl="0">
        <a:lnSpc>
          <a:spcPct val="90000"/>
        </a:lnSpc>
        <a:spcBef>
          <a:spcPts val="1000"/>
        </a:spcBef>
        <a:buChar char="•"/>
        <a:defRPr lang="en-US" sz="2800" dirty="0">
          <a:solidFill>
            <a:schemeClr val="tx1"/>
          </a:solidFill>
          <a:latin typeface="+mn-lt"/>
        </a:defRPr>
      </a:lvl1pPr>
      <a:lvl2pPr marL="685800" lvl="1" indent="-228600" algn="l" rtl="0">
        <a:lnSpc>
          <a:spcPct val="90000"/>
        </a:lnSpc>
        <a:spcBef>
          <a:spcPts val="500"/>
        </a:spcBef>
        <a:buChar char="•"/>
        <a:defRPr lang="en-US" sz="2400" dirty="0">
          <a:solidFill>
            <a:schemeClr val="tx1"/>
          </a:solidFill>
          <a:latin typeface="+mn-lt"/>
        </a:defRPr>
      </a:lvl2pPr>
      <a:lvl3pPr marL="1143000" lvl="2" indent="-228600" algn="l" rtl="0">
        <a:lnSpc>
          <a:spcPct val="90000"/>
        </a:lnSpc>
        <a:spcBef>
          <a:spcPts val="500"/>
        </a:spcBef>
        <a:buChar char="•"/>
        <a:defRPr lang="en-US" sz="2000" dirty="0">
          <a:solidFill>
            <a:schemeClr val="tx1"/>
          </a:solidFill>
          <a:latin typeface="+mn-lt"/>
        </a:defRPr>
      </a:lvl3pPr>
      <a:lvl4pPr marL="1600200" lvl="3" indent="-228600" algn="l" rtl="0">
        <a:lnSpc>
          <a:spcPct val="90000"/>
        </a:lnSpc>
        <a:spcBef>
          <a:spcPts val="500"/>
        </a:spcBef>
        <a:buChar char="•"/>
        <a:defRPr lang="en-US" sz="1800" dirty="0">
          <a:solidFill>
            <a:schemeClr val="tx1"/>
          </a:solidFill>
          <a:latin typeface="+mn-lt"/>
        </a:defRPr>
      </a:lvl4pPr>
      <a:lvl5pPr marL="2057400" lvl="4" indent="-228600" algn="l" rtl="0">
        <a:lnSpc>
          <a:spcPct val="90000"/>
        </a:lnSpc>
        <a:spcBef>
          <a:spcPts val="500"/>
        </a:spcBef>
        <a:buChar char="•"/>
        <a:defRPr lang="en-US" sz="1800" dirty="0">
          <a:solidFill>
            <a:schemeClr val="tx1"/>
          </a:solidFill>
          <a:latin typeface="+mn-lt"/>
        </a:defRPr>
      </a:lvl5pPr>
      <a:lvl6pPr marL="2514600" lvl="5" indent="-228600" algn="l" rtl="0">
        <a:lnSpc>
          <a:spcPct val="90000"/>
        </a:lnSpc>
        <a:spcBef>
          <a:spcPts val="500"/>
        </a:spcBef>
        <a:buChar char="•"/>
        <a:defRPr lang="en-US" sz="1800" dirty="0">
          <a:solidFill>
            <a:schemeClr val="tx1"/>
          </a:solidFill>
          <a:latin typeface="+mn-lt"/>
        </a:defRPr>
      </a:lvl6pPr>
      <a:lvl7pPr marL="2971800" lvl="6" indent="-228600" algn="l" rtl="0">
        <a:lnSpc>
          <a:spcPct val="90000"/>
        </a:lnSpc>
        <a:spcBef>
          <a:spcPts val="500"/>
        </a:spcBef>
        <a:buChar char="•"/>
        <a:defRPr lang="en-US" sz="1800" dirty="0">
          <a:solidFill>
            <a:schemeClr val="tx1"/>
          </a:solidFill>
          <a:latin typeface="+mn-lt"/>
        </a:defRPr>
      </a:lvl7pPr>
      <a:lvl8pPr marL="3429000" lvl="7" indent="-228600" algn="l" rtl="0">
        <a:lnSpc>
          <a:spcPct val="90000"/>
        </a:lnSpc>
        <a:spcBef>
          <a:spcPts val="500"/>
        </a:spcBef>
        <a:buChar char="•"/>
        <a:defRPr lang="en-US" sz="1800" dirty="0">
          <a:solidFill>
            <a:schemeClr val="tx1"/>
          </a:solidFill>
          <a:latin typeface="+mn-lt"/>
        </a:defRPr>
      </a:lvl8pPr>
      <a:lvl9pPr marL="3886200" lvl="8" indent="-228600" algn="l" rtl="0">
        <a:lnSpc>
          <a:spcPct val="90000"/>
        </a:lnSpc>
        <a:spcBef>
          <a:spcPts val="500"/>
        </a:spcBef>
        <a:buChar char="•"/>
        <a:defRPr lang="en-US" sz="1800" dirty="0">
          <a:solidFill>
            <a:schemeClr val="tx1"/>
          </a:solidFill>
          <a:latin typeface="+mn-lt"/>
        </a:defRPr>
      </a:lvl9pPr>
    </p:bodyStyle>
    <p:otherStyle>
      <a:lvl1pPr marL="0" lvl="0" algn="l" rtl="0">
        <a:defRPr lang="en-US" sz="1800" dirty="0">
          <a:solidFill>
            <a:schemeClr val="tx1"/>
          </a:solidFill>
          <a:latin typeface="+mn-lt"/>
        </a:defRPr>
      </a:lvl1pPr>
      <a:lvl2pPr marL="457200" lvl="1" algn="l" rtl="0">
        <a:defRPr lang="en-US" sz="1800" dirty="0">
          <a:solidFill>
            <a:schemeClr val="tx1"/>
          </a:solidFill>
          <a:latin typeface="+mn-lt"/>
        </a:defRPr>
      </a:lvl2pPr>
      <a:lvl3pPr marL="914400" lvl="2" algn="l" rtl="0">
        <a:defRPr lang="en-US" sz="1800" dirty="0">
          <a:solidFill>
            <a:schemeClr val="tx1"/>
          </a:solidFill>
          <a:latin typeface="+mn-lt"/>
        </a:defRPr>
      </a:lvl3pPr>
      <a:lvl4pPr marL="1371600" lvl="3" algn="l" rtl="0">
        <a:defRPr lang="en-US" sz="1800" dirty="0">
          <a:solidFill>
            <a:schemeClr val="tx1"/>
          </a:solidFill>
          <a:latin typeface="+mn-lt"/>
        </a:defRPr>
      </a:lvl4pPr>
      <a:lvl5pPr marL="1828800" lvl="4" algn="l" rtl="0">
        <a:defRPr lang="en-US" sz="1800" dirty="0">
          <a:solidFill>
            <a:schemeClr val="tx1"/>
          </a:solidFill>
          <a:latin typeface="+mn-lt"/>
        </a:defRPr>
      </a:lvl5pPr>
      <a:lvl6pPr marL="2286000" lvl="5" algn="l" rtl="0">
        <a:defRPr lang="en-US" sz="1800" dirty="0">
          <a:solidFill>
            <a:schemeClr val="tx1"/>
          </a:solidFill>
          <a:latin typeface="+mn-lt"/>
        </a:defRPr>
      </a:lvl6pPr>
      <a:lvl7pPr marL="2743200" lvl="6" algn="l" rtl="0">
        <a:defRPr lang="en-US" sz="1800" dirty="0">
          <a:solidFill>
            <a:schemeClr val="tx1"/>
          </a:solidFill>
          <a:latin typeface="+mn-lt"/>
        </a:defRPr>
      </a:lvl7pPr>
      <a:lvl8pPr marL="3200400" lvl="7" algn="l" rtl="0">
        <a:defRPr lang="en-US" sz="1800" dirty="0">
          <a:solidFill>
            <a:schemeClr val="tx1"/>
          </a:solidFill>
          <a:latin typeface="+mn-lt"/>
        </a:defRPr>
      </a:lvl8pPr>
      <a:lvl9pPr marL="3657600" lvl="8" algn="l" rtl="0">
        <a:defRPr lang="en-US" sz="1800" dirty="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1">
    <p:bg>
      <p:bgPr>
        <a:solidFill>
          <a:schemeClr val="bg1"/>
        </a:solidFill>
        <a:effectLst/>
      </p:bgPr>
    </p:bg>
    <p:spTree>
      <p:nvGrpSpPr>
        <p:cNvPr id="1" name=""/>
        <p:cNvGrpSpPr/>
        <p:nvPr/>
      </p:nvGrpSpPr>
      <p:grpSpPr>
        <a:xfrm>
          <a:off x="0" y="0"/>
          <a:ext cx="0" cy="0"/>
          <a:chOff x="0" y="0"/>
          <a:chExt cx="0" cy="0"/>
        </a:xfrm>
      </p:grpSpPr>
      <p:sp>
        <p:nvSpPr>
          <p:cNvPr id="3" name="Title 1">
            <a:extLst>
              <a:ext uri="{64856C8F-7DB4-4507-9010-97CF4AE55C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2140DA9-F832-465D-86DE-FEB6803F3756}"/>
              </a:ext>
            </a:extLst>
          </p:cNvPr>
          <p:cNvSpPr txBox="1"/>
          <p:nvPr/>
        </p:nvSpPr>
        <p:spPr>
          <a:xfrm>
            <a:off x="990600" y="1710685"/>
            <a:ext cx="10218173" cy="802024"/>
          </a:xfrm>
          <a:prstGeom prst="rect">
            <a:avLst/>
          </a:prstGeom>
        </p:spPr>
        <p:txBody>
          <a:bodyPr vert="horz" lIns="91440" tIns="45720" rIns="91440" bIns="45720" rtlCol="0" anchor="b">
            <a:noAutofit/>
          </a:bodyPr>
          <a:lstStyle/>
          <a:p>
            <a:pPr algn="ctr">
              <a:lnSpc>
                <a:spcPct val="90000"/>
              </a:lnSpc>
              <a:spcBef>
                <a:spcPct val="0"/>
              </a:spcBef>
            </a:pPr>
            <a:r>
              <a:rPr lang="en-GB" sz="2800" dirty="0">
                <a:solidFill>
                  <a:srgbClr val="0070C0"/>
                </a:solidFill>
                <a:latin typeface="Bookman Old Style" pitchFamily="18" charset="0"/>
                <a:ea typeface="ADLaM Display" panose="02010000000000000000" pitchFamily="2" charset="0"/>
                <a:cs typeface="ADLaM Display" panose="02010000000000000000" pitchFamily="2" charset="0"/>
              </a:rPr>
              <a:t> </a:t>
            </a:r>
          </a:p>
          <a:p>
            <a:pPr algn="ctr">
              <a:lnSpc>
                <a:spcPct val="90000"/>
              </a:lnSpc>
              <a:spcBef>
                <a:spcPct val="0"/>
              </a:spcBef>
            </a:pPr>
            <a:r>
              <a:rPr lang="en-GB" sz="2800" dirty="0">
                <a:solidFill>
                  <a:srgbClr val="0070C0"/>
                </a:solidFill>
                <a:latin typeface="Bookman Old Style" pitchFamily="18" charset="0"/>
                <a:ea typeface="ADLaM Display" panose="02010000000000000000" pitchFamily="2" charset="0"/>
                <a:cs typeface="ADLaM Display" panose="02010000000000000000" pitchFamily="2" charset="0"/>
              </a:rPr>
              <a:t>B-Tech III SEMESTER</a:t>
            </a:r>
            <a:endParaRPr lang="en-US" sz="2800" dirty="0"/>
          </a:p>
          <a:p>
            <a:pPr algn="ctr">
              <a:lnSpc>
                <a:spcPct val="90000"/>
              </a:lnSpc>
              <a:spcBef>
                <a:spcPct val="0"/>
              </a:spcBef>
            </a:pPr>
            <a:endParaRPr lang="en-GB" sz="2800" dirty="0"/>
          </a:p>
        </p:txBody>
      </p:sp>
      <p:sp>
        <p:nvSpPr>
          <p:cNvPr id="5" name="Title 1">
            <a:extLst>
              <a:ext uri="{20663F85-F48B-43E1-96BA-3B1BE53937F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82DE41-6288-42A5-A437-B3C890B5FD67}"/>
              </a:ext>
            </a:extLst>
          </p:cNvPr>
          <p:cNvSpPr txBox="1"/>
          <p:nvPr/>
        </p:nvSpPr>
        <p:spPr>
          <a:xfrm>
            <a:off x="839133" y="3820851"/>
            <a:ext cx="10696612" cy="936104"/>
          </a:xfrm>
          <a:prstGeom prst="rect">
            <a:avLst/>
          </a:prstGeom>
        </p:spPr>
        <p:txBody>
          <a:bodyPr vert="horz" lIns="91440" tIns="45720" rIns="91440" bIns="45720" rtlCol="0" anchor="b">
            <a:noAutofit/>
          </a:bodyPr>
          <a:lstStyle/>
          <a:p>
            <a:pPr algn="ctr">
              <a:lnSpc>
                <a:spcPct val="90000"/>
              </a:lnSpc>
              <a:spcBef>
                <a:spcPct val="0"/>
              </a:spcBef>
            </a:pPr>
            <a:r>
              <a:rPr lang="en-GB" sz="3200" dirty="0">
                <a:solidFill>
                  <a:srgbClr val="C00000"/>
                </a:solidFill>
                <a:latin typeface="Bookman Old Style"/>
                <a:ea typeface="ADLaM Display"/>
                <a:cs typeface="ADLaM Display"/>
              </a:rPr>
              <a:t>Review  -  13-08-2026</a:t>
            </a:r>
            <a:endParaRPr lang="en-US" sz="3200" dirty="0">
              <a:solidFill>
                <a:srgbClr val="C00000"/>
              </a:solidFill>
              <a:latin typeface="Bookman Old Style" pitchFamily="18" charset="0"/>
              <a:ea typeface="ADLaM Display"/>
              <a:cs typeface="ADLaM Display"/>
            </a:endParaRPr>
          </a:p>
        </p:txBody>
      </p:sp>
      <p:sp>
        <p:nvSpPr>
          <p:cNvPr id="4" name="Title 1">
            <a:extLst>
              <a:ext uri="{FF2B5EF4-FFF2-40B4-BE49-F238E27FC236}">
                <a16:creationId xmlns:a16="http://schemas.microsoft.com/office/drawing/2014/main" id="{C697F756-CC06-B299-9F26-7E8B254D5996}"/>
              </a:ext>
              <a:ext uri="{20663F85-F48B-43E1-96BA-3B1BE53937F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82DE41-6288-42A5-A437-B3C890B5FD67}"/>
              </a:ext>
            </a:extLst>
          </p:cNvPr>
          <p:cNvSpPr txBox="1"/>
          <p:nvPr/>
        </p:nvSpPr>
        <p:spPr>
          <a:xfrm>
            <a:off x="1175333" y="2988864"/>
            <a:ext cx="10218174" cy="1291936"/>
          </a:xfrm>
          <a:prstGeom prst="rect">
            <a:avLst/>
          </a:prstGeom>
        </p:spPr>
        <p:txBody>
          <a:bodyPr vert="horz" lIns="91440" tIns="45720" rIns="91440" bIns="45720" rtlCol="0" anchor="b">
            <a:noAutofit/>
          </a:bodyPr>
          <a:lstStyle/>
          <a:p>
            <a:pPr algn="ctr">
              <a:lnSpc>
                <a:spcPct val="90000"/>
              </a:lnSpc>
              <a:spcBef>
                <a:spcPct val="0"/>
              </a:spcBef>
            </a:pPr>
            <a:r>
              <a:rPr lang="en-IN" sz="4800" dirty="0">
                <a:solidFill>
                  <a:srgbClr val="FF0000"/>
                </a:solidFill>
                <a:latin typeface="Times New Roman" panose="02020603050405020304" pitchFamily="18" charset="0"/>
                <a:cs typeface="Times New Roman" panose="02020603050405020304" pitchFamily="18" charset="0"/>
              </a:rPr>
              <a:t>Library Management System</a:t>
            </a:r>
            <a:endParaRPr lang="en-US" sz="4800" dirty="0">
              <a:solidFill>
                <a:srgbClr val="FF0000"/>
              </a:solidFill>
              <a:latin typeface="Times New Roman" panose="02020603050405020304" pitchFamily="18" charset="0"/>
              <a:cs typeface="Times New Roman" panose="02020603050405020304" pitchFamily="18" charset="0"/>
            </a:endParaRPr>
          </a:p>
          <a:p>
            <a:pPr lvl="0" algn="ctr">
              <a:lnSpc>
                <a:spcPct val="90000"/>
              </a:lnSpc>
              <a:spcBef>
                <a:spcPct val="0"/>
              </a:spcBef>
            </a:pPr>
            <a:endParaRPr lang="en-US" sz="3200" dirty="0">
              <a:solidFill>
                <a:srgbClr val="C00000"/>
              </a:solidFill>
              <a:latin typeface="Bookman Old Style" pitchFamily="18" charset="0"/>
            </a:endParaRPr>
          </a:p>
        </p:txBody>
      </p:sp>
      <p:sp>
        <p:nvSpPr>
          <p:cNvPr id="6" name="Title 1">
            <a:extLst>
              <a:ext uri="{FF2B5EF4-FFF2-40B4-BE49-F238E27FC236}">
                <a16:creationId xmlns:a16="http://schemas.microsoft.com/office/drawing/2014/main" id="{D5413A39-CC5B-41A8-0597-7A72CEFDEA3A}"/>
              </a:ext>
              <a:ext uri="{20663F85-F48B-43E1-96BA-3B1BE53937F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82DE41-6288-42A5-A437-B3C890B5FD67}"/>
              </a:ext>
            </a:extLst>
          </p:cNvPr>
          <p:cNvSpPr txBox="1"/>
          <p:nvPr/>
        </p:nvSpPr>
        <p:spPr>
          <a:xfrm>
            <a:off x="-101600" y="4756955"/>
            <a:ext cx="4575277" cy="1604516"/>
          </a:xfrm>
          <a:prstGeom prst="rect">
            <a:avLst/>
          </a:prstGeom>
        </p:spPr>
        <p:txBody>
          <a:bodyPr vert="horz" lIns="91440" tIns="45720" rIns="91440" bIns="45720" rtlCol="0" anchor="b">
            <a:noAutofit/>
          </a:bodyPr>
          <a:lstStyle/>
          <a:p>
            <a:pPr marL="285750" indent="-285750" algn="ctr">
              <a:lnSpc>
                <a:spcPct val="90000"/>
              </a:lnSpc>
              <a:spcBef>
                <a:spcPct val="0"/>
              </a:spcBef>
            </a:pPr>
            <a:r>
              <a:rPr lang="en-IN" sz="2400" b="1" dirty="0">
                <a:solidFill>
                  <a:srgbClr val="C00000"/>
                </a:solidFill>
                <a:latin typeface="Times New Roman" panose="02020603050405020304" pitchFamily="18" charset="0"/>
                <a:cs typeface="Times New Roman" panose="02020603050405020304" pitchFamily="18" charset="0"/>
              </a:rPr>
              <a:t>Guided by </a:t>
            </a:r>
          </a:p>
          <a:p>
            <a:pPr marL="285750" indent="-285750" algn="ctr">
              <a:lnSpc>
                <a:spcPct val="90000"/>
              </a:lnSpc>
              <a:spcBef>
                <a:spcPct val="0"/>
              </a:spcBef>
            </a:pPr>
            <a:endParaRPr lang="en-IN" sz="1600" b="1" dirty="0">
              <a:solidFill>
                <a:srgbClr val="FF0000"/>
              </a:solidFill>
              <a:latin typeface="Times New Roman" panose="02020603050405020304" pitchFamily="18" charset="0"/>
              <a:cs typeface="Times New Roman" panose="02020603050405020304" pitchFamily="18" charset="0"/>
            </a:endParaRPr>
          </a:p>
          <a:p>
            <a:pPr marL="285750" indent="-285750" algn="ctr">
              <a:lnSpc>
                <a:spcPct val="90000"/>
              </a:lnSpc>
              <a:spcBef>
                <a:spcPct val="0"/>
              </a:spcBef>
            </a:pPr>
            <a:r>
              <a:rPr lang="en-IN" sz="1600" b="1" dirty="0">
                <a:solidFill>
                  <a:srgbClr val="FF0000"/>
                </a:solidFill>
                <a:latin typeface="Times New Roman" panose="02020603050405020304" pitchFamily="18" charset="0"/>
                <a:cs typeface="Times New Roman" panose="02020603050405020304" pitchFamily="18" charset="0"/>
              </a:rPr>
              <a:t>G.L.NARASAMBA.V</a:t>
            </a:r>
          </a:p>
          <a:p>
            <a:pPr marL="285750" lvl="0" indent="-285750" algn="ctr">
              <a:lnSpc>
                <a:spcPct val="90000"/>
              </a:lnSpc>
              <a:spcBef>
                <a:spcPct val="0"/>
              </a:spcBef>
            </a:pPr>
            <a:r>
              <a:rPr lang="en-US" sz="1600" b="1" dirty="0">
                <a:solidFill>
                  <a:srgbClr val="FF0000"/>
                </a:solidFill>
                <a:latin typeface="Times New Roman" panose="02020603050405020304" pitchFamily="18" charset="0"/>
                <a:cs typeface="Times New Roman" panose="02020603050405020304" pitchFamily="18" charset="0"/>
              </a:rPr>
              <a:t>Assistant Professor</a:t>
            </a:r>
          </a:p>
        </p:txBody>
      </p:sp>
      <p:sp>
        <p:nvSpPr>
          <p:cNvPr id="8" name="Title 1">
            <a:extLst>
              <a:ext uri="{FF2B5EF4-FFF2-40B4-BE49-F238E27FC236}">
                <a16:creationId xmlns:a16="http://schemas.microsoft.com/office/drawing/2014/main" id="{3EEEA07B-DFD6-4C8C-E408-7F059A3848EE}"/>
              </a:ext>
              <a:ext uri="{20663F85-F48B-43E1-96BA-3B1BE53937F7}">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6082DE41-6288-42A5-A437-B3C890B5FD67}"/>
              </a:ext>
            </a:extLst>
          </p:cNvPr>
          <p:cNvSpPr txBox="1"/>
          <p:nvPr/>
        </p:nvSpPr>
        <p:spPr>
          <a:xfrm>
            <a:off x="8180440" y="4984955"/>
            <a:ext cx="3449846" cy="1873045"/>
          </a:xfrm>
          <a:prstGeom prst="rect">
            <a:avLst/>
          </a:prstGeom>
        </p:spPr>
        <p:txBody>
          <a:bodyPr vert="horz" lIns="91440" tIns="45720" rIns="91440" bIns="45720" rtlCol="0" anchor="b">
            <a:noAutofit/>
          </a:bodyPr>
          <a:lstStyle/>
          <a:p>
            <a:pPr lvl="0" algn="ctr">
              <a:lnSpc>
                <a:spcPct val="90000"/>
              </a:lnSpc>
              <a:spcBef>
                <a:spcPct val="0"/>
              </a:spcBef>
            </a:pPr>
            <a:endParaRPr lang="en-GB" sz="1600" dirty="0">
              <a:solidFill>
                <a:srgbClr val="C00000"/>
              </a:solidFill>
              <a:latin typeface="Bookman Old Style" pitchFamily="18" charset="0"/>
              <a:ea typeface="ADLaM Display" panose="02010000000000000000" pitchFamily="2" charset="0"/>
              <a:cs typeface="ADLaM Display" panose="02010000000000000000" pitchFamily="2" charset="0"/>
            </a:endParaRPr>
          </a:p>
          <a:p>
            <a:pPr lvl="0" algn="ctr">
              <a:lnSpc>
                <a:spcPct val="90000"/>
              </a:lnSpc>
              <a:spcBef>
                <a:spcPct val="0"/>
              </a:spcBef>
            </a:pPr>
            <a:r>
              <a:rPr lang="en-GB" sz="2000" b="1" dirty="0">
                <a:solidFill>
                  <a:srgbClr val="FF0000"/>
                </a:solidFill>
                <a:latin typeface="Bookman Old Style" pitchFamily="18" charset="0"/>
                <a:ea typeface="ADLaM Display" panose="02010000000000000000" pitchFamily="2" charset="0"/>
                <a:cs typeface="ADLaM Display" panose="02010000000000000000" pitchFamily="2" charset="0"/>
              </a:rPr>
              <a:t>Presented by</a:t>
            </a:r>
          </a:p>
          <a:p>
            <a:pPr lvl="0" algn="ctr">
              <a:lnSpc>
                <a:spcPct val="90000"/>
              </a:lnSpc>
              <a:spcBef>
                <a:spcPct val="0"/>
              </a:spcBef>
            </a:pPr>
            <a:endParaRPr lang="en-GB" sz="1600" dirty="0">
              <a:solidFill>
                <a:srgbClr val="C00000"/>
              </a:solidFill>
              <a:latin typeface="Bookman Old Style" pitchFamily="18" charset="0"/>
              <a:ea typeface="ADLaM Display" panose="02010000000000000000" pitchFamily="2" charset="0"/>
              <a:cs typeface="ADLaM Display" panose="02010000000000000000" pitchFamily="2" charset="0"/>
            </a:endParaRPr>
          </a:p>
          <a:p>
            <a:pPr lvl="0" algn="ctr">
              <a:lnSpc>
                <a:spcPct val="90000"/>
              </a:lnSpc>
              <a:spcBef>
                <a:spcPct val="0"/>
              </a:spcBef>
            </a:pPr>
            <a:r>
              <a:rPr lang="en-GB" sz="1600" dirty="0">
                <a:solidFill>
                  <a:srgbClr val="C00000"/>
                </a:solidFill>
                <a:latin typeface="Bookman Old Style" pitchFamily="18" charset="0"/>
                <a:ea typeface="ADLaM Display" panose="02010000000000000000" pitchFamily="2" charset="0"/>
                <a:cs typeface="ADLaM Display" panose="02010000000000000000" pitchFamily="2" charset="0"/>
              </a:rPr>
              <a:t> </a:t>
            </a:r>
            <a:r>
              <a:rPr lang="en-GB" dirty="0" err="1">
                <a:solidFill>
                  <a:srgbClr val="C00000"/>
                </a:solidFill>
                <a:latin typeface="Bookman Old Style" pitchFamily="18" charset="0"/>
                <a:ea typeface="ADLaM Display" panose="02010000000000000000" pitchFamily="2" charset="0"/>
                <a:cs typeface="ADLaM Display" panose="02010000000000000000" pitchFamily="2" charset="0"/>
              </a:rPr>
              <a:t>G.Rambabu</a:t>
            </a:r>
            <a:r>
              <a:rPr lang="en-GB" dirty="0">
                <a:solidFill>
                  <a:srgbClr val="C00000"/>
                </a:solidFill>
                <a:latin typeface="Bookman Old Style" pitchFamily="18" charset="0"/>
                <a:ea typeface="ADLaM Display" panose="02010000000000000000" pitchFamily="2" charset="0"/>
                <a:cs typeface="ADLaM Display" panose="02010000000000000000" pitchFamily="2" charset="0"/>
              </a:rPr>
              <a:t>             </a:t>
            </a:r>
          </a:p>
          <a:p>
            <a:pPr lvl="0" algn="ctr">
              <a:lnSpc>
                <a:spcPct val="90000"/>
              </a:lnSpc>
              <a:spcBef>
                <a:spcPct val="0"/>
              </a:spcBef>
            </a:pPr>
            <a:r>
              <a:rPr lang="en-GB" dirty="0">
                <a:solidFill>
                  <a:srgbClr val="C00000"/>
                </a:solidFill>
                <a:latin typeface="Bookman Old Style" pitchFamily="18" charset="0"/>
                <a:ea typeface="ADLaM Display" panose="02010000000000000000" pitchFamily="2" charset="0"/>
                <a:cs typeface="ADLaM Display" panose="02010000000000000000" pitchFamily="2" charset="0"/>
              </a:rPr>
              <a:t>      </a:t>
            </a:r>
            <a:r>
              <a:rPr lang="en-GB" dirty="0" err="1">
                <a:solidFill>
                  <a:srgbClr val="C00000"/>
                </a:solidFill>
                <a:latin typeface="Bookman Old Style" pitchFamily="18" charset="0"/>
                <a:ea typeface="ADLaM Display" panose="02010000000000000000" pitchFamily="2" charset="0"/>
                <a:cs typeface="ADLaM Display" panose="02010000000000000000" pitchFamily="2" charset="0"/>
              </a:rPr>
              <a:t>B.Taraka</a:t>
            </a:r>
            <a:r>
              <a:rPr lang="en-GB" dirty="0">
                <a:solidFill>
                  <a:srgbClr val="C00000"/>
                </a:solidFill>
                <a:latin typeface="Bookman Old Style" pitchFamily="18" charset="0"/>
                <a:ea typeface="ADLaM Display" panose="02010000000000000000" pitchFamily="2" charset="0"/>
                <a:cs typeface="ADLaM Display" panose="02010000000000000000" pitchFamily="2" charset="0"/>
              </a:rPr>
              <a:t> Ram        </a:t>
            </a:r>
          </a:p>
          <a:p>
            <a:pPr lvl="0" algn="ctr">
              <a:lnSpc>
                <a:spcPct val="90000"/>
              </a:lnSpc>
              <a:spcBef>
                <a:spcPct val="0"/>
              </a:spcBef>
            </a:pPr>
            <a:r>
              <a:rPr lang="en-GB" dirty="0">
                <a:solidFill>
                  <a:srgbClr val="C00000"/>
                </a:solidFill>
                <a:latin typeface="Bookman Old Style" pitchFamily="18" charset="0"/>
                <a:ea typeface="ADLaM Display" panose="02010000000000000000" pitchFamily="2" charset="0"/>
                <a:cs typeface="ADLaM Display" panose="02010000000000000000" pitchFamily="2" charset="0"/>
              </a:rPr>
              <a:t> </a:t>
            </a:r>
            <a:r>
              <a:rPr lang="en-GB" dirty="0" err="1">
                <a:solidFill>
                  <a:srgbClr val="C00000"/>
                </a:solidFill>
                <a:latin typeface="Bookman Old Style" pitchFamily="18" charset="0"/>
                <a:ea typeface="ADLaM Display" panose="02010000000000000000" pitchFamily="2" charset="0"/>
                <a:cs typeface="ADLaM Display" panose="02010000000000000000" pitchFamily="2" charset="0"/>
              </a:rPr>
              <a:t>G.Gayathri</a:t>
            </a:r>
            <a:r>
              <a:rPr lang="en-GB" dirty="0">
                <a:solidFill>
                  <a:srgbClr val="C00000"/>
                </a:solidFill>
                <a:latin typeface="Bookman Old Style" pitchFamily="18" charset="0"/>
                <a:ea typeface="ADLaM Display" panose="02010000000000000000" pitchFamily="2" charset="0"/>
                <a:cs typeface="ADLaM Display" panose="02010000000000000000" pitchFamily="2" charset="0"/>
              </a:rPr>
              <a:t> </a:t>
            </a:r>
          </a:p>
          <a:p>
            <a:pPr lvl="0" algn="ctr">
              <a:lnSpc>
                <a:spcPct val="90000"/>
              </a:lnSpc>
              <a:spcBef>
                <a:spcPct val="0"/>
              </a:spcBef>
            </a:pPr>
            <a:r>
              <a:rPr lang="en-GB" dirty="0">
                <a:solidFill>
                  <a:srgbClr val="C00000"/>
                </a:solidFill>
                <a:latin typeface="Bookman Old Style" pitchFamily="18" charset="0"/>
                <a:ea typeface="ADLaM Display" panose="02010000000000000000" pitchFamily="2" charset="0"/>
                <a:cs typeface="ADLaM Display" panose="02010000000000000000" pitchFamily="2" charset="0"/>
              </a:rPr>
              <a:t>             Ch.Siva Rama Teja </a:t>
            </a:r>
          </a:p>
          <a:p>
            <a:pPr marL="285750" lvl="0" indent="-285750" algn="ctr">
              <a:lnSpc>
                <a:spcPct val="90000"/>
              </a:lnSpc>
              <a:spcBef>
                <a:spcPct val="0"/>
              </a:spcBef>
              <a:buFont typeface="Arial" panose="020B0604020202020204" pitchFamily="34" charset="0"/>
              <a:buChar char="•"/>
            </a:pPr>
            <a:endParaRPr lang="en-US" sz="1600" dirty="0">
              <a:solidFill>
                <a:srgbClr val="C00000"/>
              </a:solidFill>
              <a:latin typeface="Bookman Old Style" pitchFamily="18" charset="0"/>
            </a:endParaRPr>
          </a:p>
        </p:txBody>
      </p:sp>
      <p:sp>
        <p:nvSpPr>
          <p:cNvPr id="9" name="Title 1">
            <a:extLst>
              <a:ext uri="{FF2B5EF4-FFF2-40B4-BE49-F238E27FC236}">
                <a16:creationId xmlns:a16="http://schemas.microsoft.com/office/drawing/2014/main" id="{87EAFF15-9962-E37C-B7F1-96FCE63540D3}"/>
              </a:ext>
              <a:ext uri="{64856C8F-7DB4-4507-9010-97CF4AE55C32}">
                <a16:creationId xmlns="" xmlns:c="http://schemas.openxmlformats.org/drawingml/2006/chart" xmlns:cs="http://schemas.microsoft.com/office/drawing/2012/chartStyle" xmlns:ns1="http://schemas.openxmlformats.org/officeDocument/2006/extended-properties" xmlns:vt="http://schemas.openxmlformats.org/officeDocument/2006/docPropsVTypes" xmlns:a16="http://schemas.microsoft.com/office/drawing/2010/main" id="{72140DA9-F832-465D-86DE-FEB6803F3756}"/>
              </a:ext>
            </a:extLst>
          </p:cNvPr>
          <p:cNvSpPr txBox="1"/>
          <p:nvPr/>
        </p:nvSpPr>
        <p:spPr>
          <a:xfrm>
            <a:off x="933673" y="6035134"/>
            <a:ext cx="10696612" cy="685800"/>
          </a:xfrm>
          <a:prstGeom prst="rect">
            <a:avLst/>
          </a:prstGeom>
        </p:spPr>
        <p:txBody>
          <a:bodyPr vert="horz" lIns="91440" tIns="45720" rIns="91440" bIns="45720" rtlCol="0" anchor="b">
            <a:noAutofit/>
          </a:bodyPr>
          <a:lstStyle/>
          <a:p>
            <a:pPr lvl="0" algn="ctr">
              <a:lnSpc>
                <a:spcPct val="90000"/>
              </a:lnSpc>
              <a:spcBef>
                <a:spcPct val="0"/>
              </a:spcBef>
            </a:pPr>
            <a:r>
              <a:rPr lang="en-GB" sz="1400" dirty="0">
                <a:solidFill>
                  <a:srgbClr val="0070C0"/>
                </a:solidFill>
                <a:latin typeface="Bookman Old Style" pitchFamily="18" charset="0"/>
                <a:ea typeface="ADLaM Display" panose="02010000000000000000" pitchFamily="2" charset="0"/>
                <a:cs typeface="ADLaM Display" panose="02010000000000000000" pitchFamily="2" charset="0"/>
              </a:rPr>
              <a:t>Department of AIML</a:t>
            </a:r>
          </a:p>
        </p:txBody>
      </p:sp>
      <p:sp>
        <p:nvSpPr>
          <p:cNvPr id="12" name="TextBox 11">
            <a:extLst>
              <a:ext uri="{FF2B5EF4-FFF2-40B4-BE49-F238E27FC236}">
                <a16:creationId xmlns:a16="http://schemas.microsoft.com/office/drawing/2014/main" id="{E98893AA-F242-6625-4326-36D0AD279310}"/>
              </a:ext>
            </a:extLst>
          </p:cNvPr>
          <p:cNvSpPr txBox="1"/>
          <p:nvPr/>
        </p:nvSpPr>
        <p:spPr>
          <a:xfrm>
            <a:off x="4057368" y="2425083"/>
            <a:ext cx="4260141" cy="584775"/>
          </a:xfrm>
          <a:prstGeom prst="rect">
            <a:avLst/>
          </a:prstGeom>
          <a:noFill/>
        </p:spPr>
        <p:txBody>
          <a:bodyPr wrap="none" rtlCol="0">
            <a:spAutoFit/>
          </a:bodyPr>
          <a:lstStyle/>
          <a:p>
            <a:r>
              <a:rPr lang="en-IN" sz="3200" b="1" spc="-10" dirty="0">
                <a:latin typeface="Times New Roman" panose="02020603050405020304" pitchFamily="18" charset="0"/>
                <a:cs typeface="Times New Roman" panose="02020603050405020304" pitchFamily="18" charset="0"/>
              </a:rPr>
              <a:t>Cornerstone Project on</a:t>
            </a:r>
            <a:endParaRPr lang="en-IN" sz="3200" b="1" dirty="0"/>
          </a:p>
        </p:txBody>
      </p:sp>
    </p:spTree>
    <p:extLst>
      <p:ext uri="{59DB2955-81A9-4330-9517-4CB607EFC6F5}">
        <p14:creationId xmlns="" xmlns:c="http://schemas.openxmlformats.org/drawingml/2006/chart" xmlns:cs="http://schemas.microsoft.com/office/drawing/2012/chartStyle" xmlns:ns1="http://schemas.openxmlformats.org/officeDocument/2006/extended-properties" xmlns:vt="http://schemas.openxmlformats.org/officeDocument/2006/docPropsVTypes" xmlns:p14="http://schemas.microsoft.com/office/powerpoint/2010/main" val="17485117106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B8B6A0-92DB-0403-8AFB-A65C5747FE50}"/>
              </a:ext>
            </a:extLst>
          </p:cNvPr>
          <p:cNvSpPr>
            <a:spLocks noGrp="1"/>
          </p:cNvSpPr>
          <p:nvPr>
            <p:ph/>
          </p:nvPr>
        </p:nvSpPr>
        <p:spPr>
          <a:xfrm>
            <a:off x="822960" y="1163290"/>
            <a:ext cx="10530840" cy="5349270"/>
          </a:xfrm>
        </p:spPr>
        <p:txBody>
          <a:bodyPr vert="horz" lIns="91440" tIns="45720" rIns="91440" bIns="45720" rtlCol="0" anchor="t">
            <a:normAutofit fontScale="25000" lnSpcReduction="20000"/>
          </a:bodyPr>
          <a:lstStyle/>
          <a:p>
            <a:pPr algn="ctr"/>
            <a:r>
              <a:rPr lang="en-US" sz="17600" b="1" dirty="0">
                <a:solidFill>
                  <a:schemeClr val="accent2">
                    <a:lumMod val="75000"/>
                  </a:schemeClr>
                </a:solidFill>
                <a:ea typeface="Calibri"/>
                <a:cs typeface="Calibri"/>
              </a:rPr>
              <a:t>Contents</a:t>
            </a:r>
            <a:endParaRPr lang="en-US" sz="17600" dirty="0">
              <a:solidFill>
                <a:schemeClr val="accent2">
                  <a:lumMod val="75000"/>
                </a:schemeClr>
              </a:solidFill>
              <a:ea typeface="Calibri"/>
              <a:cs typeface="Calibri"/>
            </a:endParaRP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Abstract </a:t>
            </a:r>
            <a:r>
              <a:rPr lang="en-US" altLang="en-US" sz="9200" dirty="0">
                <a:solidFill>
                  <a:schemeClr val="tx1">
                    <a:lumMod val="75000"/>
                    <a:lumOff val="25000"/>
                  </a:schemeClr>
                </a:solidFill>
              </a:rPr>
              <a:t> </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Problem Statement</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Objectives </a:t>
            </a:r>
            <a:r>
              <a:rPr lang="en-US" altLang="en-US" sz="9200" dirty="0">
                <a:solidFill>
                  <a:schemeClr val="tx1">
                    <a:lumMod val="75000"/>
                    <a:lumOff val="25000"/>
                  </a:schemeClr>
                </a:solidFill>
              </a:rPr>
              <a:t> </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No of Entities used</a:t>
            </a:r>
            <a:endParaRPr lang="en-US" altLang="en-US" sz="9200" dirty="0">
              <a:solidFill>
                <a:schemeClr val="tx1">
                  <a:lumMod val="75000"/>
                  <a:lumOff val="25000"/>
                </a:schemeClr>
              </a:solidFill>
            </a:endParaRP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Attributes of each Entity</a:t>
            </a:r>
            <a:r>
              <a:rPr lang="en-US" altLang="en-US" sz="9200" dirty="0">
                <a:solidFill>
                  <a:schemeClr val="tx1">
                    <a:lumMod val="75000"/>
                    <a:lumOff val="25000"/>
                  </a:schemeClr>
                </a:solidFill>
              </a:rPr>
              <a:t> </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Primary and Foreign keys</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Project Relational Schema</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Advantages</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Dis-Advantages</a:t>
            </a:r>
          </a:p>
          <a:p>
            <a:pPr marL="0" lvl="0" eaLnBrk="0" fontAlgn="base" hangingPunct="0">
              <a:lnSpc>
                <a:spcPct val="160000"/>
              </a:lnSpc>
              <a:spcBef>
                <a:spcPct val="0"/>
              </a:spcBef>
              <a:spcAft>
                <a:spcPct val="0"/>
              </a:spcAft>
              <a:buFontTx/>
              <a:buChar char="•"/>
            </a:pPr>
            <a:r>
              <a:rPr lang="en-US" altLang="en-US" sz="9200" b="1" dirty="0">
                <a:solidFill>
                  <a:schemeClr val="tx1">
                    <a:lumMod val="75000"/>
                    <a:lumOff val="25000"/>
                  </a:schemeClr>
                </a:solidFill>
              </a:rPr>
              <a:t>  Conclusion</a:t>
            </a:r>
            <a:endParaRPr lang="en-US" altLang="en-US" sz="9200" dirty="0">
              <a:solidFill>
                <a:schemeClr val="tx1">
                  <a:lumMod val="75000"/>
                  <a:lumOff val="25000"/>
                </a:schemeClr>
              </a:solidFill>
            </a:endParaRPr>
          </a:p>
          <a:p>
            <a:endParaRPr lang="en-US" dirty="0">
              <a:latin typeface="Bookman Old Style"/>
              <a:ea typeface="Calibri"/>
              <a:cs typeface="Calibri"/>
            </a:endParaRPr>
          </a:p>
        </p:txBody>
      </p:sp>
    </p:spTree>
    <p:extLst>
      <p:ext uri="{BB962C8B-B14F-4D97-AF65-F5344CB8AC3E}">
        <p14:creationId xmlns:p14="http://schemas.microsoft.com/office/powerpoint/2010/main" val="275892237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5127A1-6F6F-E211-8307-F42EB2BF10B4}"/>
              </a:ext>
            </a:extLst>
          </p:cNvPr>
          <p:cNvSpPr txBox="1"/>
          <p:nvPr/>
        </p:nvSpPr>
        <p:spPr>
          <a:xfrm>
            <a:off x="873760" y="223520"/>
            <a:ext cx="10078720" cy="707886"/>
          </a:xfrm>
          <a:prstGeom prst="rect">
            <a:avLst/>
          </a:prstGeom>
          <a:noFill/>
        </p:spPr>
        <p:txBody>
          <a:bodyPr wrap="square">
            <a:spAutoFit/>
          </a:bodyPr>
          <a:lstStyle/>
          <a:p>
            <a:pPr algn="ctr"/>
            <a:r>
              <a:rPr lang="en-IN" sz="4000" b="1" dirty="0">
                <a:solidFill>
                  <a:schemeClr val="accent2">
                    <a:lumMod val="75000"/>
                  </a:schemeClr>
                </a:solidFill>
              </a:rPr>
              <a:t>Abstract</a:t>
            </a:r>
          </a:p>
        </p:txBody>
      </p:sp>
      <p:sp>
        <p:nvSpPr>
          <p:cNvPr id="5" name="TextBox 4">
            <a:extLst>
              <a:ext uri="{FF2B5EF4-FFF2-40B4-BE49-F238E27FC236}">
                <a16:creationId xmlns:a16="http://schemas.microsoft.com/office/drawing/2014/main" id="{155BFB8B-7DE4-AA6D-8909-96F0C950719D}"/>
              </a:ext>
            </a:extLst>
          </p:cNvPr>
          <p:cNvSpPr txBox="1"/>
          <p:nvPr/>
        </p:nvSpPr>
        <p:spPr>
          <a:xfrm>
            <a:off x="497840" y="1366897"/>
            <a:ext cx="5415280" cy="4124206"/>
          </a:xfrm>
          <a:prstGeom prst="rect">
            <a:avLst/>
          </a:prstGeom>
          <a:noFill/>
        </p:spPr>
        <p:txBody>
          <a:bodyPr wrap="square">
            <a:spAutoFit/>
          </a:bodyPr>
          <a:lstStyle/>
          <a:p>
            <a:pPr marL="342900" indent="-342900">
              <a:buFont typeface="Arial" panose="020B0604020202020204" pitchFamily="34" charset="0"/>
              <a:buChar char="•"/>
            </a:pPr>
            <a:r>
              <a:rPr lang="en-IN" sz="2400" dirty="0"/>
              <a:t>The </a:t>
            </a:r>
            <a:r>
              <a:rPr lang="en-IN" sz="2400" b="1" dirty="0"/>
              <a:t>Library Management System</a:t>
            </a:r>
            <a:r>
              <a:rPr lang="en-IN" sz="2400" dirty="0"/>
              <a:t> is a DBMS project used to manage library records easily.</a:t>
            </a:r>
          </a:p>
          <a:p>
            <a:pPr marL="342900" indent="-342900">
              <a:buFont typeface="Arial" panose="020B0604020202020204" pitchFamily="34" charset="0"/>
              <a:buChar char="•"/>
            </a:pPr>
            <a:r>
              <a:rPr lang="en-IN" sz="2400" dirty="0"/>
              <a:t>It helps to store and manage information about </a:t>
            </a:r>
            <a:r>
              <a:rPr lang="en-IN" sz="2400" b="1" dirty="0"/>
              <a:t>books, students, authors, and book issue/return details</a:t>
            </a:r>
            <a:r>
              <a:rPr lang="en-IN" sz="2400" dirty="0"/>
              <a:t> in a database.</a:t>
            </a:r>
          </a:p>
          <a:p>
            <a:pPr marL="342900" indent="-342900">
              <a:buFont typeface="Arial" panose="020B0604020202020204" pitchFamily="34" charset="0"/>
              <a:buChar char="•"/>
            </a:pPr>
            <a:r>
              <a:rPr lang="en-IN" sz="2400" dirty="0"/>
              <a:t>The system reduces manual work and makes it easier to </a:t>
            </a:r>
            <a:r>
              <a:rPr lang="en-IN" sz="2400" b="1" dirty="0"/>
              <a:t>add, search, update, and manage library records</a:t>
            </a:r>
            <a:r>
              <a:rPr lang="en-IN" sz="2400" dirty="0"/>
              <a:t>.</a:t>
            </a:r>
          </a:p>
          <a:p>
            <a:pPr marL="285750" indent="-285750" algn="just">
              <a:buFont typeface="Arial" panose="020B0604020202020204" pitchFamily="34" charset="0"/>
              <a:buChar char="•"/>
            </a:pPr>
            <a:endParaRPr lang="en-IN" sz="2200" dirty="0"/>
          </a:p>
        </p:txBody>
      </p:sp>
      <p:pic>
        <p:nvPicPr>
          <p:cNvPr id="7" name="Picture 6">
            <a:extLst>
              <a:ext uri="{FF2B5EF4-FFF2-40B4-BE49-F238E27FC236}">
                <a16:creationId xmlns:a16="http://schemas.microsoft.com/office/drawing/2014/main" id="{9E782EBF-86EB-12E0-E92B-334AF6DF0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3760" y="931406"/>
            <a:ext cx="6238240" cy="5926594"/>
          </a:xfrm>
          <a:prstGeom prst="rect">
            <a:avLst/>
          </a:prstGeom>
        </p:spPr>
      </p:pic>
    </p:spTree>
    <p:extLst>
      <p:ext uri="{BB962C8B-B14F-4D97-AF65-F5344CB8AC3E}">
        <p14:creationId xmlns:p14="http://schemas.microsoft.com/office/powerpoint/2010/main" val="59701690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E5A257-8841-8B13-6516-754B12456DF4}"/>
              </a:ext>
            </a:extLst>
          </p:cNvPr>
          <p:cNvSpPr>
            <a:spLocks noGrp="1"/>
          </p:cNvSpPr>
          <p:nvPr>
            <p:ph/>
          </p:nvPr>
        </p:nvSpPr>
        <p:spPr>
          <a:xfrm>
            <a:off x="6096000" y="1077232"/>
            <a:ext cx="6096000" cy="5780768"/>
          </a:xfrm>
        </p:spPr>
        <p:txBody>
          <a:bodyPr>
            <a:normAutofit fontScale="92500" lnSpcReduction="10000"/>
          </a:bodyPr>
          <a:lstStyle/>
          <a:p>
            <a:pPr marL="914400" indent="-457200">
              <a:buFont typeface="Arial" panose="020B0604020202020204" pitchFamily="34" charset="0"/>
              <a:buChar char="•"/>
            </a:pPr>
            <a:r>
              <a:rPr lang="en-IN" dirty="0"/>
              <a:t>Managing a library manually can be difficult and time-consuming.</a:t>
            </a:r>
          </a:p>
          <a:p>
            <a:pPr marL="914400" lvl="0" indent="-457200">
              <a:buFont typeface="Arial" panose="020B0604020202020204" pitchFamily="34" charset="0"/>
              <a:buChar char="•"/>
            </a:pPr>
            <a:r>
              <a:rPr lang="en-IN" dirty="0"/>
              <a:t>Maintaining book records manually is difficult.</a:t>
            </a:r>
          </a:p>
          <a:p>
            <a:pPr marL="914400" lvl="0" indent="-457200">
              <a:buFont typeface="Arial" panose="020B0604020202020204" pitchFamily="34" charset="0"/>
              <a:buChar char="•"/>
            </a:pPr>
            <a:r>
              <a:rPr lang="en-IN" dirty="0"/>
              <a:t>Finding books takes more time.</a:t>
            </a:r>
          </a:p>
          <a:p>
            <a:pPr marL="914400" lvl="0" indent="-457200">
              <a:buFont typeface="Arial" panose="020B0604020202020204" pitchFamily="34" charset="0"/>
              <a:buChar char="•"/>
            </a:pPr>
            <a:r>
              <a:rPr lang="en-IN" dirty="0"/>
              <a:t>Keeping student records is difficult.</a:t>
            </a:r>
          </a:p>
          <a:p>
            <a:pPr marL="914400" lvl="0" indent="-457200">
              <a:buFont typeface="Arial" panose="020B0604020202020204" pitchFamily="34" charset="0"/>
              <a:buChar char="•"/>
            </a:pPr>
            <a:r>
              <a:rPr lang="en-IN" dirty="0"/>
              <a:t>Tracking issued and returned books can cause errors.</a:t>
            </a:r>
          </a:p>
          <a:p>
            <a:pPr marL="914400" lvl="0" indent="-457200">
              <a:buFont typeface="Arial" panose="020B0604020202020204" pitchFamily="34" charset="0"/>
              <a:buChar char="•"/>
            </a:pPr>
            <a:r>
              <a:rPr lang="en-IN" dirty="0"/>
              <a:t>It is difficult to keep all library data organized.</a:t>
            </a:r>
          </a:p>
          <a:p>
            <a:r>
              <a:rPr lang="en-IN" b="1" dirty="0"/>
              <a:t>Therefore, we propose a Library Management System to store and manage library information easily using DBMS.</a:t>
            </a:r>
            <a:endParaRPr lang="en-IN" dirty="0"/>
          </a:p>
          <a:p>
            <a:endParaRPr lang="en-IN" dirty="0"/>
          </a:p>
        </p:txBody>
      </p:sp>
      <p:sp>
        <p:nvSpPr>
          <p:cNvPr id="4" name="TextBox 3">
            <a:extLst>
              <a:ext uri="{FF2B5EF4-FFF2-40B4-BE49-F238E27FC236}">
                <a16:creationId xmlns:a16="http://schemas.microsoft.com/office/drawing/2014/main" id="{0F16C5C4-EEF8-631E-9DF7-9CD335B43122}"/>
              </a:ext>
            </a:extLst>
          </p:cNvPr>
          <p:cNvSpPr txBox="1"/>
          <p:nvPr/>
        </p:nvSpPr>
        <p:spPr>
          <a:xfrm>
            <a:off x="2987040" y="386081"/>
            <a:ext cx="6431280" cy="691151"/>
          </a:xfrm>
          <a:prstGeom prst="rect">
            <a:avLst/>
          </a:prstGeom>
          <a:noFill/>
        </p:spPr>
        <p:txBody>
          <a:bodyPr wrap="square">
            <a:spAutoFit/>
          </a:bodyPr>
          <a:lstStyle/>
          <a:p>
            <a:pPr marL="0" lvl="0" eaLnBrk="0" fontAlgn="base" hangingPunct="0">
              <a:lnSpc>
                <a:spcPct val="160000"/>
              </a:lnSpc>
              <a:spcBef>
                <a:spcPct val="0"/>
              </a:spcBef>
              <a:spcAft>
                <a:spcPct val="0"/>
              </a:spcAft>
            </a:pPr>
            <a:r>
              <a:rPr lang="en-US" altLang="en-US" sz="2800" b="1" dirty="0">
                <a:solidFill>
                  <a:schemeClr val="accent2">
                    <a:lumMod val="75000"/>
                  </a:schemeClr>
                </a:solidFill>
                <a:latin typeface="Arial" panose="020B0604020202020204" pitchFamily="34" charset="0"/>
              </a:rPr>
              <a:t>               Problem Statement</a:t>
            </a:r>
            <a:endParaRPr lang="en-US" altLang="en-US" sz="2800" dirty="0">
              <a:solidFill>
                <a:schemeClr val="accent2">
                  <a:lumMod val="75000"/>
                </a:schemeClr>
              </a:solidFill>
              <a:latin typeface="Arial" panose="020B0604020202020204" pitchFamily="34" charset="0"/>
            </a:endParaRPr>
          </a:p>
        </p:txBody>
      </p:sp>
      <p:pic>
        <p:nvPicPr>
          <p:cNvPr id="6" name="Picture 5">
            <a:extLst>
              <a:ext uri="{FF2B5EF4-FFF2-40B4-BE49-F238E27FC236}">
                <a16:creationId xmlns:a16="http://schemas.microsoft.com/office/drawing/2014/main" id="{B5E1285A-60EA-57AC-866E-CAFEA0A2E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77232"/>
            <a:ext cx="6096000" cy="5780768"/>
          </a:xfrm>
          <a:prstGeom prst="rect">
            <a:avLst/>
          </a:prstGeom>
        </p:spPr>
      </p:pic>
    </p:spTree>
    <p:extLst>
      <p:ext uri="{BB962C8B-B14F-4D97-AF65-F5344CB8AC3E}">
        <p14:creationId xmlns:p14="http://schemas.microsoft.com/office/powerpoint/2010/main" val="2441291684"/>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691FD8-81BF-7FD2-09A1-7487C0589963}"/>
              </a:ext>
            </a:extLst>
          </p:cNvPr>
          <p:cNvSpPr>
            <a:spLocks noGrp="1"/>
          </p:cNvSpPr>
          <p:nvPr>
            <p:ph/>
          </p:nvPr>
        </p:nvSpPr>
        <p:spPr>
          <a:xfrm>
            <a:off x="0" y="1280296"/>
            <a:ext cx="6096000" cy="5577704"/>
          </a:xfrm>
        </p:spPr>
        <p:txBody>
          <a:bodyPr>
            <a:noAutofit/>
          </a:bodyPr>
          <a:lstStyle/>
          <a:p>
            <a:r>
              <a:rPr lang="en-IN" sz="2400" b="1" dirty="0"/>
              <a:t>Objectives</a:t>
            </a:r>
          </a:p>
          <a:p>
            <a:pPr lvl="0"/>
            <a:endParaRPr lang="en-IN" sz="2400" dirty="0"/>
          </a:p>
          <a:p>
            <a:pPr marL="800100" lvl="0" indent="-342900">
              <a:buFont typeface="Wingdings" panose="05000000000000000000" pitchFamily="2" charset="2"/>
              <a:buChar char="§"/>
            </a:pPr>
            <a:r>
              <a:rPr lang="en-IN" sz="2400" dirty="0"/>
              <a:t>To store </a:t>
            </a:r>
            <a:r>
              <a:rPr lang="en-IN" sz="2400" b="1" dirty="0"/>
              <a:t>book details</a:t>
            </a:r>
            <a:r>
              <a:rPr lang="en-IN" sz="2400" dirty="0"/>
              <a:t> in the database.</a:t>
            </a:r>
          </a:p>
          <a:p>
            <a:pPr marL="800100" lvl="0" indent="-342900">
              <a:buFont typeface="Wingdings" panose="05000000000000000000" pitchFamily="2" charset="2"/>
              <a:buChar char="§"/>
            </a:pPr>
            <a:r>
              <a:rPr lang="en-IN" sz="2400" dirty="0"/>
              <a:t>To maintain </a:t>
            </a:r>
            <a:r>
              <a:rPr lang="en-IN" sz="2400" b="1" dirty="0"/>
              <a:t>student/member details</a:t>
            </a:r>
            <a:r>
              <a:rPr lang="en-IN" sz="2400" dirty="0"/>
              <a:t>.</a:t>
            </a:r>
          </a:p>
          <a:p>
            <a:pPr marL="800100" lvl="0" indent="-342900">
              <a:buFont typeface="Wingdings" panose="05000000000000000000" pitchFamily="2" charset="2"/>
              <a:buChar char="§"/>
            </a:pPr>
            <a:r>
              <a:rPr lang="en-IN" sz="2400" dirty="0"/>
              <a:t>To manage </a:t>
            </a:r>
            <a:r>
              <a:rPr lang="en-IN" sz="2400" b="1" dirty="0"/>
              <a:t>book issue and return</a:t>
            </a:r>
            <a:r>
              <a:rPr lang="en-IN" sz="2400" dirty="0"/>
              <a:t> records.</a:t>
            </a:r>
          </a:p>
          <a:p>
            <a:pPr marL="800100" lvl="0" indent="-342900">
              <a:buFont typeface="Wingdings" panose="05000000000000000000" pitchFamily="2" charset="2"/>
              <a:buChar char="§"/>
            </a:pPr>
            <a:r>
              <a:rPr lang="en-IN" sz="2400" dirty="0"/>
              <a:t>To make it easy to </a:t>
            </a:r>
            <a:r>
              <a:rPr lang="en-IN" sz="2400" b="1" dirty="0"/>
              <a:t>search books</a:t>
            </a:r>
            <a:r>
              <a:rPr lang="en-IN" sz="2400" dirty="0"/>
              <a:t>.</a:t>
            </a:r>
          </a:p>
          <a:p>
            <a:pPr marL="800100" lvl="0" indent="-342900">
              <a:buFont typeface="Wingdings" panose="05000000000000000000" pitchFamily="2" charset="2"/>
              <a:buChar char="§"/>
            </a:pPr>
            <a:r>
              <a:rPr lang="en-IN" sz="2400" dirty="0"/>
              <a:t>To keep library records </a:t>
            </a:r>
            <a:r>
              <a:rPr lang="en-IN" sz="2400" b="1" dirty="0"/>
              <a:t>organized and accurate</a:t>
            </a:r>
            <a:r>
              <a:rPr lang="en-IN" sz="2400" dirty="0"/>
              <a:t>.</a:t>
            </a:r>
          </a:p>
          <a:p>
            <a:pPr marL="800100" lvl="0" indent="-342900">
              <a:buFont typeface="Wingdings" panose="05000000000000000000" pitchFamily="2" charset="2"/>
              <a:buChar char="§"/>
            </a:pPr>
            <a:r>
              <a:rPr lang="en-IN" sz="2400" dirty="0"/>
              <a:t>To reduce </a:t>
            </a:r>
            <a:r>
              <a:rPr lang="en-IN" sz="2400" b="1" dirty="0"/>
              <a:t>manual work and errors</a:t>
            </a:r>
            <a:r>
              <a:rPr lang="en-IN" sz="2400" dirty="0"/>
              <a:t>.</a:t>
            </a:r>
          </a:p>
          <a:p>
            <a:pPr algn="just"/>
            <a:endParaRPr lang="en-IN" sz="2200" dirty="0"/>
          </a:p>
        </p:txBody>
      </p:sp>
      <p:sp>
        <p:nvSpPr>
          <p:cNvPr id="7" name="TextBox 6">
            <a:extLst>
              <a:ext uri="{FF2B5EF4-FFF2-40B4-BE49-F238E27FC236}">
                <a16:creationId xmlns:a16="http://schemas.microsoft.com/office/drawing/2014/main" id="{E0450BEF-61B7-4354-936D-606DEF1163EF}"/>
              </a:ext>
            </a:extLst>
          </p:cNvPr>
          <p:cNvSpPr txBox="1"/>
          <p:nvPr/>
        </p:nvSpPr>
        <p:spPr>
          <a:xfrm>
            <a:off x="2885440" y="375921"/>
            <a:ext cx="6197600" cy="691151"/>
          </a:xfrm>
          <a:prstGeom prst="rect">
            <a:avLst/>
          </a:prstGeom>
          <a:noFill/>
        </p:spPr>
        <p:txBody>
          <a:bodyPr wrap="square">
            <a:spAutoFit/>
          </a:bodyPr>
          <a:lstStyle/>
          <a:p>
            <a:pPr marL="0" lvl="0" eaLnBrk="0" fontAlgn="base" hangingPunct="0">
              <a:lnSpc>
                <a:spcPct val="160000"/>
              </a:lnSpc>
              <a:spcBef>
                <a:spcPct val="0"/>
              </a:spcBef>
              <a:spcAft>
                <a:spcPct val="0"/>
              </a:spcAft>
            </a:pPr>
            <a:r>
              <a:rPr lang="en-US" altLang="en-US" sz="2800" b="1" dirty="0">
                <a:solidFill>
                  <a:schemeClr val="accent2">
                    <a:lumMod val="75000"/>
                  </a:schemeClr>
                </a:solidFill>
                <a:latin typeface="Arial" panose="020B0604020202020204" pitchFamily="34" charset="0"/>
              </a:rPr>
              <a:t>                     Objectives</a:t>
            </a:r>
            <a:r>
              <a:rPr lang="en-US" altLang="en-US" sz="2800" dirty="0">
                <a:solidFill>
                  <a:schemeClr val="accent2">
                    <a:lumMod val="75000"/>
                  </a:schemeClr>
                </a:solidFill>
                <a:latin typeface="Arial" panose="020B0604020202020204" pitchFamily="34" charset="0"/>
              </a:rPr>
              <a:t> </a:t>
            </a:r>
          </a:p>
        </p:txBody>
      </p:sp>
      <p:pic>
        <p:nvPicPr>
          <p:cNvPr id="4" name="Picture 3">
            <a:extLst>
              <a:ext uri="{FF2B5EF4-FFF2-40B4-BE49-F238E27FC236}">
                <a16:creationId xmlns:a16="http://schemas.microsoft.com/office/drawing/2014/main" id="{110A901B-7B4D-55C7-A56B-55BE1ACFA6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280296"/>
            <a:ext cx="6096000" cy="5577704"/>
          </a:xfrm>
          <a:prstGeom prst="rect">
            <a:avLst/>
          </a:prstGeom>
        </p:spPr>
      </p:pic>
    </p:spTree>
    <p:extLst>
      <p:ext uri="{BB962C8B-B14F-4D97-AF65-F5344CB8AC3E}">
        <p14:creationId xmlns:p14="http://schemas.microsoft.com/office/powerpoint/2010/main" val="322153605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ED89D9-C3F0-6992-A950-F4401F3C7873}"/>
              </a:ext>
            </a:extLst>
          </p:cNvPr>
          <p:cNvSpPr>
            <a:spLocks noGrp="1"/>
          </p:cNvSpPr>
          <p:nvPr>
            <p:ph/>
          </p:nvPr>
        </p:nvSpPr>
        <p:spPr>
          <a:xfrm>
            <a:off x="6096000" y="1298654"/>
            <a:ext cx="6096000" cy="5559346"/>
          </a:xfrm>
        </p:spPr>
        <p:txBody>
          <a:bodyPr/>
          <a:lstStyle/>
          <a:p>
            <a:r>
              <a:rPr lang="en-IN" b="1" i="1" u="sng" dirty="0"/>
              <a:t>No. of Entities Used</a:t>
            </a:r>
          </a:p>
          <a:p>
            <a:r>
              <a:rPr lang="en-IN" dirty="0"/>
              <a:t>Our Library Management System uses </a:t>
            </a:r>
            <a:r>
              <a:rPr lang="en-IN" b="1" dirty="0"/>
              <a:t>5 Entities</a:t>
            </a:r>
            <a:r>
              <a:rPr lang="en-IN" dirty="0"/>
              <a:t>:</a:t>
            </a:r>
          </a:p>
          <a:p>
            <a:pPr marL="914400" lvl="0" indent="-457200">
              <a:buFont typeface="Arial" panose="020B0604020202020204" pitchFamily="34" charset="0"/>
              <a:buChar char="•"/>
            </a:pPr>
            <a:r>
              <a:rPr lang="en-IN" b="1" dirty="0"/>
              <a:t>Student</a:t>
            </a:r>
            <a:r>
              <a:rPr lang="en-IN" dirty="0"/>
              <a:t> – Stores student details.</a:t>
            </a:r>
          </a:p>
          <a:p>
            <a:pPr marL="914400" lvl="0" indent="-457200">
              <a:buFont typeface="Arial" panose="020B0604020202020204" pitchFamily="34" charset="0"/>
              <a:buChar char="•"/>
            </a:pPr>
            <a:r>
              <a:rPr lang="en-IN" b="1" dirty="0"/>
              <a:t>Book</a:t>
            </a:r>
            <a:r>
              <a:rPr lang="en-IN" dirty="0"/>
              <a:t> – Stores book information.</a:t>
            </a:r>
          </a:p>
          <a:p>
            <a:pPr marL="914400" lvl="0" indent="-457200">
              <a:buFont typeface="Arial" panose="020B0604020202020204" pitchFamily="34" charset="0"/>
              <a:buChar char="•"/>
            </a:pPr>
            <a:r>
              <a:rPr lang="en-IN" b="1" dirty="0"/>
              <a:t>Author</a:t>
            </a:r>
            <a:r>
              <a:rPr lang="en-IN" dirty="0"/>
              <a:t> – Stores author details.</a:t>
            </a:r>
          </a:p>
          <a:p>
            <a:pPr marL="914400" lvl="0" indent="-457200">
              <a:buFont typeface="Arial" panose="020B0604020202020204" pitchFamily="34" charset="0"/>
              <a:buChar char="•"/>
            </a:pPr>
            <a:r>
              <a:rPr lang="en-IN" b="1" dirty="0"/>
              <a:t>Issue</a:t>
            </a:r>
            <a:r>
              <a:rPr lang="en-IN" dirty="0"/>
              <a:t> – Stores book issue and return details.</a:t>
            </a:r>
          </a:p>
          <a:p>
            <a:pPr marL="914400" lvl="0" indent="-457200">
              <a:buFont typeface="Arial" panose="020B0604020202020204" pitchFamily="34" charset="0"/>
              <a:buChar char="•"/>
            </a:pPr>
            <a:r>
              <a:rPr lang="en-IN" b="1" dirty="0"/>
              <a:t>Librarian</a:t>
            </a:r>
            <a:r>
              <a:rPr lang="en-IN" dirty="0"/>
              <a:t> – Stores librarian information.</a:t>
            </a:r>
          </a:p>
          <a:p>
            <a:r>
              <a:rPr lang="en-IN" b="1" dirty="0"/>
              <a:t>Total Entities: 5</a:t>
            </a:r>
          </a:p>
          <a:p>
            <a:endParaRPr lang="en-IN" dirty="0"/>
          </a:p>
        </p:txBody>
      </p:sp>
      <p:sp>
        <p:nvSpPr>
          <p:cNvPr id="3" name="TextBox 2">
            <a:extLst>
              <a:ext uri="{FF2B5EF4-FFF2-40B4-BE49-F238E27FC236}">
                <a16:creationId xmlns:a16="http://schemas.microsoft.com/office/drawing/2014/main" id="{9043DA3D-1F67-76FC-23A9-DB5D8DA772BA}"/>
              </a:ext>
            </a:extLst>
          </p:cNvPr>
          <p:cNvSpPr txBox="1"/>
          <p:nvPr/>
        </p:nvSpPr>
        <p:spPr>
          <a:xfrm>
            <a:off x="4431922" y="436880"/>
            <a:ext cx="3328155" cy="861774"/>
          </a:xfrm>
          <a:prstGeom prst="rect">
            <a:avLst/>
          </a:prstGeom>
          <a:noFill/>
        </p:spPr>
        <p:txBody>
          <a:bodyPr wrap="none" rtlCol="0">
            <a:spAutoFit/>
          </a:bodyPr>
          <a:lstStyle/>
          <a:p>
            <a:r>
              <a:rPr lang="en-US" altLang="en-US" sz="3200" dirty="0">
                <a:solidFill>
                  <a:srgbClr val="C00000"/>
                </a:solidFill>
              </a:rPr>
              <a:t>No of Entities used</a:t>
            </a:r>
          </a:p>
          <a:p>
            <a:endParaRPr lang="en-IN" dirty="0"/>
          </a:p>
        </p:txBody>
      </p:sp>
      <p:pic>
        <p:nvPicPr>
          <p:cNvPr id="5" name="Picture 4">
            <a:extLst>
              <a:ext uri="{FF2B5EF4-FFF2-40B4-BE49-F238E27FC236}">
                <a16:creationId xmlns:a16="http://schemas.microsoft.com/office/drawing/2014/main" id="{C64EE59D-8C19-7439-72CA-B7CA490F75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3" y="1298654"/>
            <a:ext cx="6095998" cy="5559346"/>
          </a:xfrm>
          <a:prstGeom prst="rect">
            <a:avLst/>
          </a:prstGeom>
        </p:spPr>
      </p:pic>
    </p:spTree>
    <p:extLst>
      <p:ext uri="{BB962C8B-B14F-4D97-AF65-F5344CB8AC3E}">
        <p14:creationId xmlns:p14="http://schemas.microsoft.com/office/powerpoint/2010/main" val="2568877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550F5E4-AD7D-8E1A-58D3-F729D4EFF613}"/>
              </a:ext>
            </a:extLst>
          </p:cNvPr>
          <p:cNvPicPr>
            <a:picLocks noGrp="1" noChangeAspect="1"/>
          </p:cNvPicPr>
          <p:nvPr>
            <p:ph/>
          </p:nvPr>
        </p:nvPicPr>
        <p:blipFill>
          <a:blip r:embed="rId3">
            <a:extLst>
              <a:ext uri="{28A0092B-C50C-407E-A947-70E740481C1C}">
                <a14:useLocalDpi xmlns:a14="http://schemas.microsoft.com/office/drawing/2010/main" val="0"/>
              </a:ext>
            </a:extLst>
          </a:blip>
          <a:stretch>
            <a:fillRect/>
          </a:stretch>
        </p:blipFill>
        <p:spPr>
          <a:xfrm>
            <a:off x="0" y="1076960"/>
            <a:ext cx="12192000" cy="5781040"/>
          </a:xfrm>
          <a:prstGeom prst="rect">
            <a:avLst/>
          </a:prstGeom>
        </p:spPr>
      </p:pic>
      <p:sp>
        <p:nvSpPr>
          <p:cNvPr id="10" name="TextBox 9">
            <a:extLst>
              <a:ext uri="{FF2B5EF4-FFF2-40B4-BE49-F238E27FC236}">
                <a16:creationId xmlns:a16="http://schemas.microsoft.com/office/drawing/2014/main" id="{FC89257A-23B1-9508-C090-CD8F828A3C17}"/>
              </a:ext>
            </a:extLst>
          </p:cNvPr>
          <p:cNvSpPr txBox="1"/>
          <p:nvPr/>
        </p:nvSpPr>
        <p:spPr>
          <a:xfrm>
            <a:off x="508000" y="1757680"/>
            <a:ext cx="184731" cy="369332"/>
          </a:xfrm>
          <a:prstGeom prst="rect">
            <a:avLst/>
          </a:prstGeom>
          <a:noFill/>
        </p:spPr>
        <p:txBody>
          <a:bodyPr wrap="none" rtlCol="0">
            <a:spAutoFit/>
          </a:bodyPr>
          <a:lstStyle/>
          <a:p>
            <a:endParaRPr lang="en-IN" dirty="0"/>
          </a:p>
        </p:txBody>
      </p:sp>
      <p:sp>
        <p:nvSpPr>
          <p:cNvPr id="12" name="TextBox 11">
            <a:extLst>
              <a:ext uri="{FF2B5EF4-FFF2-40B4-BE49-F238E27FC236}">
                <a16:creationId xmlns:a16="http://schemas.microsoft.com/office/drawing/2014/main" id="{13F2A73B-422F-BD6D-96BD-A4DED31A33EA}"/>
              </a:ext>
            </a:extLst>
          </p:cNvPr>
          <p:cNvSpPr txBox="1"/>
          <p:nvPr/>
        </p:nvSpPr>
        <p:spPr>
          <a:xfrm>
            <a:off x="660400" y="1910080"/>
            <a:ext cx="184731" cy="369332"/>
          </a:xfrm>
          <a:prstGeom prst="rect">
            <a:avLst/>
          </a:prstGeom>
          <a:noFill/>
        </p:spPr>
        <p:txBody>
          <a:bodyPr wrap="none" rtlCol="0">
            <a:spAutoFit/>
          </a:bodyPr>
          <a:lstStyle/>
          <a:p>
            <a:endParaRPr lang="en-IN" dirty="0"/>
          </a:p>
        </p:txBody>
      </p:sp>
    </p:spTree>
    <p:extLst>
      <p:ext uri="{BB962C8B-B14F-4D97-AF65-F5344CB8AC3E}">
        <p14:creationId xmlns:p14="http://schemas.microsoft.com/office/powerpoint/2010/main" val="1381769335"/>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F88AE3-737F-BDC8-9768-F6DF0A206F21}"/>
              </a:ext>
            </a:extLst>
          </p:cNvPr>
          <p:cNvSpPr txBox="1"/>
          <p:nvPr/>
        </p:nvSpPr>
        <p:spPr>
          <a:xfrm>
            <a:off x="4218040" y="344130"/>
            <a:ext cx="3951723" cy="800219"/>
          </a:xfrm>
          <a:prstGeom prst="rect">
            <a:avLst/>
          </a:prstGeom>
          <a:noFill/>
        </p:spPr>
        <p:txBody>
          <a:bodyPr wrap="none" rtlCol="0">
            <a:spAutoFit/>
          </a:bodyPr>
          <a:lstStyle/>
          <a:p>
            <a:r>
              <a:rPr lang="en-US" altLang="en-US" sz="2800" b="1" dirty="0">
                <a:solidFill>
                  <a:srgbClr val="FF0000"/>
                </a:solidFill>
              </a:rPr>
              <a:t>Primary and Foreign keys</a:t>
            </a:r>
          </a:p>
          <a:p>
            <a:endParaRPr lang="en-IN" dirty="0"/>
          </a:p>
        </p:txBody>
      </p:sp>
      <p:sp>
        <p:nvSpPr>
          <p:cNvPr id="6" name="TextBox 5">
            <a:extLst>
              <a:ext uri="{FF2B5EF4-FFF2-40B4-BE49-F238E27FC236}">
                <a16:creationId xmlns:a16="http://schemas.microsoft.com/office/drawing/2014/main" id="{BAD05E5F-F705-447D-520C-BF87C7EC209E}"/>
              </a:ext>
            </a:extLst>
          </p:cNvPr>
          <p:cNvSpPr txBox="1"/>
          <p:nvPr/>
        </p:nvSpPr>
        <p:spPr>
          <a:xfrm>
            <a:off x="2045109" y="1720645"/>
            <a:ext cx="5132439" cy="646331"/>
          </a:xfrm>
          <a:prstGeom prst="rect">
            <a:avLst/>
          </a:prstGeom>
          <a:noFill/>
        </p:spPr>
        <p:txBody>
          <a:bodyPr wrap="square">
            <a:spAutoFit/>
          </a:bodyPr>
          <a:lstStyle/>
          <a:p>
            <a:endParaRPr lang="en-IN" dirty="0"/>
          </a:p>
          <a:p>
            <a:endParaRPr lang="en-IN" dirty="0"/>
          </a:p>
        </p:txBody>
      </p:sp>
      <p:sp>
        <p:nvSpPr>
          <p:cNvPr id="8" name="TextBox 7">
            <a:extLst>
              <a:ext uri="{FF2B5EF4-FFF2-40B4-BE49-F238E27FC236}">
                <a16:creationId xmlns:a16="http://schemas.microsoft.com/office/drawing/2014/main" id="{9B5FB612-6B81-7C41-45AD-5A815BEB1EAA}"/>
              </a:ext>
            </a:extLst>
          </p:cNvPr>
          <p:cNvSpPr txBox="1"/>
          <p:nvPr/>
        </p:nvSpPr>
        <p:spPr>
          <a:xfrm>
            <a:off x="1111047" y="2915473"/>
            <a:ext cx="6213986" cy="369332"/>
          </a:xfrm>
          <a:prstGeom prst="rect">
            <a:avLst/>
          </a:prstGeom>
          <a:noFill/>
        </p:spPr>
        <p:txBody>
          <a:bodyPr wrap="square">
            <a:spAutoFit/>
          </a:bodyPr>
          <a:lstStyle/>
          <a:p>
            <a:r>
              <a:rPr lang="en-IN" dirty="0"/>
              <a:t>.</a:t>
            </a:r>
          </a:p>
        </p:txBody>
      </p:sp>
      <p:graphicFrame>
        <p:nvGraphicFramePr>
          <p:cNvPr id="4" name="Table 3">
            <a:extLst>
              <a:ext uri="{FF2B5EF4-FFF2-40B4-BE49-F238E27FC236}">
                <a16:creationId xmlns:a16="http://schemas.microsoft.com/office/drawing/2014/main" id="{82A053AB-BF0B-CFF0-09CE-FBDC0411058C}"/>
              </a:ext>
            </a:extLst>
          </p:cNvPr>
          <p:cNvGraphicFramePr>
            <a:graphicFrameLocks noGrp="1"/>
          </p:cNvGraphicFramePr>
          <p:nvPr>
            <p:extLst>
              <p:ext uri="{D42A27DB-BD31-4B8C-83A1-F6EECF244321}">
                <p14:modId xmlns:p14="http://schemas.microsoft.com/office/powerpoint/2010/main" val="3132765543"/>
              </p:ext>
            </p:extLst>
          </p:nvPr>
        </p:nvGraphicFramePr>
        <p:xfrm>
          <a:off x="889233" y="1560352"/>
          <a:ext cx="10464567" cy="4513277"/>
        </p:xfrm>
        <a:graphic>
          <a:graphicData uri="http://schemas.openxmlformats.org/drawingml/2006/table">
            <a:tbl>
              <a:tblPr>
                <a:tableStyleId>{35758FB7-9AC5-4552-8A53-C91805E547FA}</a:tableStyleId>
              </a:tblPr>
              <a:tblGrid>
                <a:gridCol w="2577867">
                  <a:extLst>
                    <a:ext uri="{9D8B030D-6E8A-4147-A177-3AD203B41FA5}">
                      <a16:colId xmlns:a16="http://schemas.microsoft.com/office/drawing/2014/main" val="3155681791"/>
                    </a:ext>
                  </a:extLst>
                </a:gridCol>
                <a:gridCol w="2628900">
                  <a:extLst>
                    <a:ext uri="{9D8B030D-6E8A-4147-A177-3AD203B41FA5}">
                      <a16:colId xmlns:a16="http://schemas.microsoft.com/office/drawing/2014/main" val="4256505424"/>
                    </a:ext>
                  </a:extLst>
                </a:gridCol>
                <a:gridCol w="2628900">
                  <a:extLst>
                    <a:ext uri="{9D8B030D-6E8A-4147-A177-3AD203B41FA5}">
                      <a16:colId xmlns:a16="http://schemas.microsoft.com/office/drawing/2014/main" val="4221413608"/>
                    </a:ext>
                  </a:extLst>
                </a:gridCol>
                <a:gridCol w="2628900">
                  <a:extLst>
                    <a:ext uri="{9D8B030D-6E8A-4147-A177-3AD203B41FA5}">
                      <a16:colId xmlns:a16="http://schemas.microsoft.com/office/drawing/2014/main" val="550679134"/>
                    </a:ext>
                  </a:extLst>
                </a:gridCol>
              </a:tblGrid>
              <a:tr h="598700">
                <a:tc>
                  <a:txBody>
                    <a:bodyPr/>
                    <a:lstStyle/>
                    <a:p>
                      <a:pPr>
                        <a:buNone/>
                      </a:pPr>
                      <a:r>
                        <a:rPr lang="en-IN" sz="2000" b="1" dirty="0">
                          <a:latin typeface="Times New Roman" panose="02020603050405020304" pitchFamily="18" charset="0"/>
                          <a:cs typeface="Times New Roman" panose="02020603050405020304" pitchFamily="18" charset="0"/>
                        </a:rPr>
                        <a:t>Entity / Table</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Primary Key (PK)</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Foreign Key (FK)</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References</a:t>
                      </a:r>
                    </a:p>
                  </a:txBody>
                  <a:tcPr anchor="ctr"/>
                </a:tc>
                <a:extLst>
                  <a:ext uri="{0D108BD9-81ED-4DB2-BD59-A6C34878D82A}">
                    <a16:rowId xmlns:a16="http://schemas.microsoft.com/office/drawing/2014/main" val="1170674771"/>
                  </a:ext>
                </a:extLst>
              </a:tr>
              <a:tr h="598700">
                <a:tc>
                  <a:txBody>
                    <a:bodyPr/>
                    <a:lstStyle/>
                    <a:p>
                      <a:pPr>
                        <a:buNone/>
                      </a:pPr>
                      <a:r>
                        <a:rPr lang="en-IN" sz="2000" b="1" dirty="0"/>
                        <a:t>Student</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Student_ID</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t>—</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0061651"/>
                  </a:ext>
                </a:extLst>
              </a:tr>
              <a:tr h="598700">
                <a:tc>
                  <a:txBody>
                    <a:bodyPr/>
                    <a:lstStyle/>
                    <a:p>
                      <a:pPr>
                        <a:buNone/>
                      </a:pPr>
                      <a:r>
                        <a:rPr lang="en-IN" sz="2000" b="1" dirty="0"/>
                        <a:t>Author</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Author_ID</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161906679"/>
                  </a:ext>
                </a:extLst>
              </a:tr>
              <a:tr h="598700">
                <a:tc>
                  <a:txBody>
                    <a:bodyPr/>
                    <a:lstStyle/>
                    <a:p>
                      <a:pPr>
                        <a:buNone/>
                      </a:pPr>
                      <a:r>
                        <a:rPr lang="en-IN" sz="2000" b="1" dirty="0"/>
                        <a:t>Book</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Book_ID</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Author_ID</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Author(Author_ID)</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526402856"/>
                  </a:ext>
                </a:extLst>
              </a:tr>
              <a:tr h="598700">
                <a:tc>
                  <a:txBody>
                    <a:bodyPr/>
                    <a:lstStyle/>
                    <a:p>
                      <a:pPr>
                        <a:buNone/>
                      </a:pPr>
                      <a:r>
                        <a:rPr lang="en-IN" sz="2000" b="1" dirty="0"/>
                        <a:t>Librarian</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Librarian_ID</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t>
                      </a:r>
                      <a:endParaRPr lang="en-IN" sz="2000">
                        <a:latin typeface="Times New Roman" panose="02020603050405020304" pitchFamily="18" charset="0"/>
                        <a:cs typeface="Times New Roman" panose="02020603050405020304" pitchFamily="18" charset="0"/>
                      </a:endParaRPr>
                    </a:p>
                  </a:txBody>
                  <a:tcPr anchor="ctr"/>
                </a:tc>
                <a:tc>
                  <a:txBody>
                    <a:bodyPr/>
                    <a:lstStyle/>
                    <a:p>
                      <a:pPr>
                        <a:buNone/>
                      </a:pPr>
                      <a:r>
                        <a:rPr lang="en-IN" sz="2000"/>
                        <a:t>—</a:t>
                      </a:r>
                      <a:endParaRPr lang="en-IN" sz="20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7206388"/>
                  </a:ext>
                </a:extLst>
              </a:tr>
              <a:tr h="1519777">
                <a:tc>
                  <a:txBody>
                    <a:bodyPr/>
                    <a:lstStyle/>
                    <a:p>
                      <a:pPr>
                        <a:buNone/>
                      </a:pPr>
                      <a:r>
                        <a:rPr lang="en-IN" sz="2000" b="1" dirty="0"/>
                        <a:t>Issue</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err="1"/>
                        <a:t>Issue_ID</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err="1"/>
                        <a:t>Book_ID</a:t>
                      </a:r>
                      <a:r>
                        <a:rPr lang="en-IN" sz="2000" dirty="0"/>
                        <a:t>, </a:t>
                      </a:r>
                      <a:r>
                        <a:rPr lang="en-IN" sz="2000" dirty="0" err="1"/>
                        <a:t>Student_ID</a:t>
                      </a:r>
                      <a:r>
                        <a:rPr lang="en-IN" sz="2000" dirty="0"/>
                        <a:t>, </a:t>
                      </a:r>
                      <a:r>
                        <a:rPr lang="en-IN" sz="2000" dirty="0" err="1"/>
                        <a:t>Librarian_ID</a:t>
                      </a:r>
                      <a:r>
                        <a:rPr lang="en-IN" sz="2000" dirty="0"/>
                        <a:t>*</a:t>
                      </a:r>
                      <a:endParaRPr lang="en-IN" sz="20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2000" dirty="0"/>
                        <a:t>Book(</a:t>
                      </a:r>
                      <a:r>
                        <a:rPr lang="en-IN" sz="2000" dirty="0" err="1"/>
                        <a:t>Book_ID</a:t>
                      </a:r>
                      <a:r>
                        <a:rPr lang="en-IN" sz="2000" dirty="0"/>
                        <a:t>), Student(</a:t>
                      </a:r>
                      <a:r>
                        <a:rPr lang="en-IN" sz="2000" dirty="0" err="1"/>
                        <a:t>Student_ID</a:t>
                      </a:r>
                      <a:r>
                        <a:rPr lang="en-IN" sz="2000" dirty="0"/>
                        <a:t>), Librarian(</a:t>
                      </a:r>
                      <a:r>
                        <a:rPr lang="en-IN" sz="2000" dirty="0" err="1"/>
                        <a:t>Librarian_ID</a:t>
                      </a:r>
                      <a:r>
                        <a:rPr lang="en-IN" sz="2000" dirty="0"/>
                        <a:t>)</a:t>
                      </a:r>
                      <a:endParaRPr lang="en-IN" sz="2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19498762"/>
                  </a:ext>
                </a:extLst>
              </a:tr>
            </a:tbl>
          </a:graphicData>
        </a:graphic>
      </p:graphicFrame>
    </p:spTree>
    <p:extLst>
      <p:ext uri="{BB962C8B-B14F-4D97-AF65-F5344CB8AC3E}">
        <p14:creationId xmlns:p14="http://schemas.microsoft.com/office/powerpoint/2010/main" val="259969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880592-5306-59C4-28A6-0DD01560A5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593" y="1015067"/>
            <a:ext cx="9628814" cy="5645792"/>
          </a:xfrm>
          <a:prstGeom prst="rect">
            <a:avLst/>
          </a:prstGeom>
        </p:spPr>
      </p:pic>
    </p:spTree>
    <p:extLst>
      <p:ext uri="{BB962C8B-B14F-4D97-AF65-F5344CB8AC3E}">
        <p14:creationId xmlns:p14="http://schemas.microsoft.com/office/powerpoint/2010/main" val="3519309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8FC"/>
          </a:solidFill>
          <a:ln>
            <a:solidFill>
              <a:srgbClr val="F4F8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3840480" cy="6858000"/>
          </a:xfrm>
          <a:prstGeom prst="rect">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371600"/>
            <a:ext cx="2560320" cy="502920"/>
          </a:xfrm>
          <a:prstGeom prst="rect">
            <a:avLst/>
          </a:prstGeom>
          <a:noFill/>
        </p:spPr>
        <p:txBody>
          <a:bodyPr wrap="square">
            <a:spAutoFit/>
          </a:bodyPr>
          <a:lstStyle/>
          <a:p>
            <a:pPr algn="l"/>
            <a:r>
              <a:rPr sz="3000" b="1">
                <a:solidFill>
                  <a:srgbClr val="FFFFFF"/>
                </a:solidFill>
                <a:latin typeface="Aptos"/>
              </a:rPr>
              <a:t>LIBRARY</a:t>
            </a:r>
          </a:p>
        </p:txBody>
      </p:sp>
      <p:sp>
        <p:nvSpPr>
          <p:cNvPr id="5" name="TextBox 4"/>
          <p:cNvSpPr txBox="1"/>
          <p:nvPr/>
        </p:nvSpPr>
        <p:spPr>
          <a:xfrm>
            <a:off x="640080" y="1920240"/>
            <a:ext cx="2743200" cy="1005840"/>
          </a:xfrm>
          <a:prstGeom prst="rect">
            <a:avLst/>
          </a:prstGeom>
          <a:noFill/>
        </p:spPr>
        <p:txBody>
          <a:bodyPr wrap="square">
            <a:spAutoFit/>
          </a:bodyPr>
          <a:lstStyle/>
          <a:p>
            <a:pPr algn="l"/>
            <a:r>
              <a:rPr sz="2700" b="1">
                <a:solidFill>
                  <a:srgbClr val="FFFFFF"/>
                </a:solidFill>
                <a:latin typeface="Aptos"/>
              </a:rPr>
              <a:t>MANAGEMENT</a:t>
            </a:r>
            <a:br/>
            <a:r>
              <a:t>SYSTEM</a:t>
            </a:r>
          </a:p>
        </p:txBody>
      </p:sp>
      <p:sp>
        <p:nvSpPr>
          <p:cNvPr id="6" name="TextBox 5"/>
          <p:cNvSpPr txBox="1"/>
          <p:nvPr/>
        </p:nvSpPr>
        <p:spPr>
          <a:xfrm>
            <a:off x="640080" y="3246120"/>
            <a:ext cx="2560320" cy="320040"/>
          </a:xfrm>
          <a:prstGeom prst="rect">
            <a:avLst/>
          </a:prstGeom>
          <a:noFill/>
        </p:spPr>
        <p:txBody>
          <a:bodyPr wrap="square">
            <a:spAutoFit/>
          </a:bodyPr>
          <a:lstStyle/>
          <a:p>
            <a:pPr algn="l"/>
            <a:r>
              <a:rPr sz="1300" b="0">
                <a:solidFill>
                  <a:srgbClr val="BED7F0"/>
                </a:solidFill>
                <a:latin typeface="Aptos"/>
              </a:rPr>
              <a:t>DBMS PROJECT</a:t>
            </a:r>
          </a:p>
        </p:txBody>
      </p:sp>
      <p:sp>
        <p:nvSpPr>
          <p:cNvPr id="7" name="Rectangle 6"/>
          <p:cNvSpPr/>
          <p:nvPr/>
        </p:nvSpPr>
        <p:spPr>
          <a:xfrm>
            <a:off x="3840480" y="16778"/>
            <a:ext cx="835121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92040" y="1051560"/>
            <a:ext cx="5303520" cy="457200"/>
          </a:xfrm>
          <a:prstGeom prst="rect">
            <a:avLst/>
          </a:prstGeom>
          <a:noFill/>
        </p:spPr>
        <p:txBody>
          <a:bodyPr wrap="square">
            <a:spAutoFit/>
          </a:bodyPr>
          <a:lstStyle/>
          <a:p>
            <a:pPr algn="l"/>
            <a:r>
              <a:rPr sz="2800" b="1">
                <a:solidFill>
                  <a:srgbClr val="112B49"/>
                </a:solidFill>
                <a:latin typeface="Aptos"/>
              </a:rPr>
              <a:t>System Login</a:t>
            </a:r>
          </a:p>
        </p:txBody>
      </p:sp>
      <p:sp>
        <p:nvSpPr>
          <p:cNvPr id="9" name="TextBox 8"/>
          <p:cNvSpPr txBox="1"/>
          <p:nvPr/>
        </p:nvSpPr>
        <p:spPr>
          <a:xfrm>
            <a:off x="4892040" y="1572768"/>
            <a:ext cx="5669280" cy="365760"/>
          </a:xfrm>
          <a:prstGeom prst="rect">
            <a:avLst/>
          </a:prstGeom>
          <a:noFill/>
        </p:spPr>
        <p:txBody>
          <a:bodyPr wrap="square">
            <a:spAutoFit/>
          </a:bodyPr>
          <a:lstStyle/>
          <a:p>
            <a:pPr algn="l"/>
            <a:r>
              <a:rPr sz="1200" b="0">
                <a:solidFill>
                  <a:srgbClr val="69737D"/>
                </a:solidFill>
                <a:latin typeface="Aptos"/>
              </a:rPr>
              <a:t>Login to manage books, students and issue/return records</a:t>
            </a:r>
          </a:p>
        </p:txBody>
      </p:sp>
      <p:sp>
        <p:nvSpPr>
          <p:cNvPr id="10" name="TextBox 9"/>
          <p:cNvSpPr txBox="1"/>
          <p:nvPr/>
        </p:nvSpPr>
        <p:spPr>
          <a:xfrm>
            <a:off x="4892040" y="2240280"/>
            <a:ext cx="5303520" cy="201168"/>
          </a:xfrm>
          <a:prstGeom prst="rect">
            <a:avLst/>
          </a:prstGeom>
          <a:noFill/>
        </p:spPr>
        <p:txBody>
          <a:bodyPr wrap="square">
            <a:spAutoFit/>
          </a:bodyPr>
          <a:lstStyle/>
          <a:p>
            <a:pPr algn="l"/>
            <a:r>
              <a:rPr sz="1000" b="1">
                <a:solidFill>
                  <a:srgbClr val="69737D"/>
                </a:solidFill>
                <a:latin typeface="Aptos"/>
              </a:rPr>
              <a:t>USERNAME</a:t>
            </a:r>
          </a:p>
        </p:txBody>
      </p:sp>
      <p:sp>
        <p:nvSpPr>
          <p:cNvPr id="11" name="Rounded Rectangle 10"/>
          <p:cNvSpPr/>
          <p:nvPr/>
        </p:nvSpPr>
        <p:spPr>
          <a:xfrm>
            <a:off x="4892040" y="2468880"/>
            <a:ext cx="530352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0055" y="2551176"/>
            <a:ext cx="5047488" cy="228600"/>
          </a:xfrm>
          <a:prstGeom prst="rect">
            <a:avLst/>
          </a:prstGeom>
          <a:noFill/>
        </p:spPr>
        <p:txBody>
          <a:bodyPr wrap="square">
            <a:spAutoFit/>
          </a:bodyPr>
          <a:lstStyle/>
          <a:p>
            <a:pPr algn="l"/>
            <a:r>
              <a:rPr sz="1200" b="0" dirty="0">
                <a:solidFill>
                  <a:srgbClr val="232D37"/>
                </a:solidFill>
                <a:latin typeface="Aptos"/>
              </a:rPr>
              <a:t>librarian</a:t>
            </a:r>
          </a:p>
        </p:txBody>
      </p:sp>
      <p:sp>
        <p:nvSpPr>
          <p:cNvPr id="13" name="TextBox 12"/>
          <p:cNvSpPr txBox="1"/>
          <p:nvPr/>
        </p:nvSpPr>
        <p:spPr>
          <a:xfrm>
            <a:off x="4892040" y="3063240"/>
            <a:ext cx="5303520" cy="201168"/>
          </a:xfrm>
          <a:prstGeom prst="rect">
            <a:avLst/>
          </a:prstGeom>
          <a:noFill/>
        </p:spPr>
        <p:txBody>
          <a:bodyPr wrap="square">
            <a:spAutoFit/>
          </a:bodyPr>
          <a:lstStyle/>
          <a:p>
            <a:pPr algn="l"/>
            <a:r>
              <a:rPr sz="1000" b="1">
                <a:solidFill>
                  <a:srgbClr val="69737D"/>
                </a:solidFill>
                <a:latin typeface="Aptos"/>
              </a:rPr>
              <a:t>PASSWORD</a:t>
            </a:r>
          </a:p>
        </p:txBody>
      </p:sp>
      <p:sp>
        <p:nvSpPr>
          <p:cNvPr id="14" name="Rounded Rectangle 13"/>
          <p:cNvSpPr/>
          <p:nvPr/>
        </p:nvSpPr>
        <p:spPr>
          <a:xfrm>
            <a:off x="4892040" y="3291840"/>
            <a:ext cx="530352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0055" y="3374136"/>
            <a:ext cx="5047488" cy="228600"/>
          </a:xfrm>
          <a:prstGeom prst="rect">
            <a:avLst/>
          </a:prstGeom>
          <a:noFill/>
        </p:spPr>
        <p:txBody>
          <a:bodyPr wrap="square">
            <a:spAutoFit/>
          </a:bodyPr>
          <a:lstStyle/>
          <a:p>
            <a:pPr algn="l"/>
            <a:r>
              <a:rPr sz="1200" b="0">
                <a:solidFill>
                  <a:srgbClr val="232D37"/>
                </a:solidFill>
                <a:latin typeface="Aptos"/>
              </a:rPr>
              <a:t>••••••••</a:t>
            </a:r>
          </a:p>
        </p:txBody>
      </p:sp>
      <p:sp>
        <p:nvSpPr>
          <p:cNvPr id="16" name="Rounded Rectangle 15"/>
          <p:cNvSpPr/>
          <p:nvPr/>
        </p:nvSpPr>
        <p:spPr>
          <a:xfrm>
            <a:off x="4892040" y="3886200"/>
            <a:ext cx="5303520" cy="438912"/>
          </a:xfrm>
          <a:prstGeom prst="roundRect">
            <a:avLst>
              <a:gd name="adj" fmla="val 8000"/>
            </a:avLst>
          </a:prstGeom>
          <a:solidFill>
            <a:srgbClr val="2A8459"/>
          </a:solidFill>
          <a:ln>
            <a:solidFill>
              <a:srgbClr val="2A84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7" name="TextBox 16"/>
          <p:cNvSpPr txBox="1"/>
          <p:nvPr/>
        </p:nvSpPr>
        <p:spPr>
          <a:xfrm>
            <a:off x="4892039" y="3986784"/>
            <a:ext cx="5303520" cy="228600"/>
          </a:xfrm>
          <a:prstGeom prst="rect">
            <a:avLst/>
          </a:prstGeom>
          <a:noFill/>
        </p:spPr>
        <p:txBody>
          <a:bodyPr wrap="square">
            <a:spAutoFit/>
          </a:bodyPr>
          <a:lstStyle/>
          <a:p>
            <a:pPr algn="ctr"/>
            <a:r>
              <a:rPr sz="1200" b="1">
                <a:solidFill>
                  <a:srgbClr val="FFFFFF"/>
                </a:solidFill>
                <a:latin typeface="Aptos"/>
              </a:rPr>
              <a:t>LOGIN</a:t>
            </a:r>
          </a:p>
        </p:txBody>
      </p:sp>
      <p:sp>
        <p:nvSpPr>
          <p:cNvPr id="18" name="TextBox 17"/>
          <p:cNvSpPr txBox="1"/>
          <p:nvPr/>
        </p:nvSpPr>
        <p:spPr>
          <a:xfrm>
            <a:off x="4892040" y="4709160"/>
            <a:ext cx="5303520" cy="274320"/>
          </a:xfrm>
          <a:prstGeom prst="rect">
            <a:avLst/>
          </a:prstGeom>
          <a:noFill/>
        </p:spPr>
        <p:txBody>
          <a:bodyPr wrap="square">
            <a:spAutoFit/>
          </a:bodyPr>
          <a:lstStyle/>
          <a:p>
            <a:pPr algn="ctr"/>
            <a:r>
              <a:rPr sz="1000" b="0">
                <a:solidFill>
                  <a:srgbClr val="69737D"/>
                </a:solidFill>
                <a:latin typeface="Aptos"/>
              </a:rPr>
              <a:t>Demo output screen</a:t>
            </a:r>
          </a:p>
        </p:txBody>
      </p:sp>
      <p:sp>
        <p:nvSpPr>
          <p:cNvPr id="19" name="TextBox 18"/>
          <p:cNvSpPr txBox="1"/>
          <p:nvPr/>
        </p:nvSpPr>
        <p:spPr>
          <a:xfrm>
            <a:off x="530352" y="6510528"/>
            <a:ext cx="11064240" cy="201168"/>
          </a:xfrm>
          <a:prstGeom prst="rect">
            <a:avLst/>
          </a:prstGeom>
          <a:noFill/>
        </p:spPr>
        <p:txBody>
          <a:bodyPr wrap="square">
            <a:spAutoFit/>
          </a:bodyPr>
          <a:lstStyle/>
          <a:p>
            <a:pPr algn="r"/>
            <a:r>
              <a:rPr sz="900" b="0">
                <a:solidFill>
                  <a:srgbClr val="69737D"/>
                </a:solidFill>
                <a:latin typeface="Aptos"/>
              </a:rPr>
              <a:t>Illustrative interface for presentation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961120" cy="384048"/>
          </a:xfrm>
          <a:prstGeom prst="rect">
            <a:avLst/>
          </a:prstGeom>
          <a:noFill/>
        </p:spPr>
        <p:txBody>
          <a:bodyPr wrap="square">
            <a:spAutoFit/>
          </a:bodyPr>
          <a:lstStyle/>
          <a:p>
            <a:pPr algn="l"/>
            <a:r>
              <a:rPr sz="2400" b="1">
                <a:solidFill>
                  <a:srgbClr val="FFFFFF"/>
                </a:solidFill>
                <a:latin typeface="Aptos"/>
              </a:rPr>
              <a:t>System Dashboard</a:t>
            </a:r>
          </a:p>
        </p:txBody>
      </p:sp>
      <p:sp>
        <p:nvSpPr>
          <p:cNvPr id="4" name="TextBox 3"/>
          <p:cNvSpPr txBox="1"/>
          <p:nvPr/>
        </p:nvSpPr>
        <p:spPr>
          <a:xfrm>
            <a:off x="11064240" y="118872"/>
            <a:ext cx="594360" cy="320040"/>
          </a:xfrm>
          <a:prstGeom prst="rect">
            <a:avLst/>
          </a:prstGeom>
          <a:noFill/>
        </p:spPr>
        <p:txBody>
          <a:bodyPr wrap="square">
            <a:spAutoFit/>
          </a:bodyPr>
          <a:lstStyle/>
          <a:p>
            <a:pPr algn="r"/>
            <a:r>
              <a:rPr sz="1800" b="1">
                <a:solidFill>
                  <a:srgbClr val="FFFFFF"/>
                </a:solidFill>
                <a:latin typeface="Aptos"/>
              </a:rPr>
              <a:t>02</a:t>
            </a:r>
          </a:p>
        </p:txBody>
      </p:sp>
      <p:sp>
        <p:nvSpPr>
          <p:cNvPr id="5" name="TextBox 4"/>
          <p:cNvSpPr txBox="1"/>
          <p:nvPr/>
        </p:nvSpPr>
        <p:spPr>
          <a:xfrm>
            <a:off x="3589020" y="777240"/>
            <a:ext cx="7772400" cy="274320"/>
          </a:xfrm>
          <a:prstGeom prst="rect">
            <a:avLst/>
          </a:prstGeom>
          <a:noFill/>
        </p:spPr>
        <p:txBody>
          <a:bodyPr wrap="square">
            <a:spAutoFit/>
          </a:bodyPr>
          <a:lstStyle/>
          <a:p>
            <a:pPr algn="l"/>
            <a:r>
              <a:rPr sz="1000" b="0" dirty="0">
                <a:solidFill>
                  <a:srgbClr val="69737D"/>
                </a:solidFill>
                <a:latin typeface="Aptos"/>
              </a:rPr>
              <a:t>Library Management System • Sample Output</a:t>
            </a:r>
          </a:p>
        </p:txBody>
      </p:sp>
      <p:sp>
        <p:nvSpPr>
          <p:cNvPr id="6" name="Rounded Rectangle 5"/>
          <p:cNvSpPr/>
          <p:nvPr/>
        </p:nvSpPr>
        <p:spPr>
          <a:xfrm>
            <a:off x="0" y="658368"/>
            <a:ext cx="11640312" cy="5559552"/>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30352" y="1143000"/>
            <a:ext cx="2057400" cy="5074920"/>
          </a:xfrm>
          <a:prstGeom prst="rect">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508760"/>
            <a:ext cx="1463040" cy="365760"/>
          </a:xfrm>
          <a:prstGeom prst="rect">
            <a:avLst/>
          </a:prstGeom>
          <a:noFill/>
        </p:spPr>
        <p:txBody>
          <a:bodyPr wrap="square">
            <a:spAutoFit/>
          </a:bodyPr>
          <a:lstStyle/>
          <a:p>
            <a:pPr algn="l"/>
            <a:r>
              <a:rPr sz="1900" b="1">
                <a:solidFill>
                  <a:srgbClr val="FFFFFF"/>
                </a:solidFill>
                <a:latin typeface="Aptos"/>
              </a:rPr>
              <a:t>LIBRARY</a:t>
            </a:r>
          </a:p>
        </p:txBody>
      </p:sp>
      <p:sp>
        <p:nvSpPr>
          <p:cNvPr id="9" name="Rounded Rectangle 8"/>
          <p:cNvSpPr/>
          <p:nvPr/>
        </p:nvSpPr>
        <p:spPr>
          <a:xfrm>
            <a:off x="713232" y="2103120"/>
            <a:ext cx="1691640" cy="438912"/>
          </a:xfrm>
          <a:prstGeom prst="roundRect">
            <a:avLst>
              <a:gd name="adj" fmla="val 8000"/>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2185416"/>
            <a:ext cx="1691640" cy="219456"/>
          </a:xfrm>
          <a:prstGeom prst="rect">
            <a:avLst/>
          </a:prstGeom>
          <a:noFill/>
        </p:spPr>
        <p:txBody>
          <a:bodyPr wrap="square">
            <a:spAutoFit/>
          </a:bodyPr>
          <a:lstStyle/>
          <a:p>
            <a:pPr algn="ctr"/>
            <a:r>
              <a:rPr sz="1100" b="1">
                <a:solidFill>
                  <a:srgbClr val="FFFFFF"/>
                </a:solidFill>
                <a:latin typeface="Aptos"/>
              </a:rPr>
              <a:t>Dashboard</a:t>
            </a:r>
          </a:p>
        </p:txBody>
      </p:sp>
      <p:sp>
        <p:nvSpPr>
          <p:cNvPr id="11" name="Rounded Rectangle 10"/>
          <p:cNvSpPr/>
          <p:nvPr/>
        </p:nvSpPr>
        <p:spPr>
          <a:xfrm>
            <a:off x="713232" y="2743200"/>
            <a:ext cx="1691640" cy="438912"/>
          </a:xfrm>
          <a:prstGeom prst="roundRect">
            <a:avLst>
              <a:gd name="adj" fmla="val 8000"/>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2825496"/>
            <a:ext cx="1691640" cy="219456"/>
          </a:xfrm>
          <a:prstGeom prst="rect">
            <a:avLst/>
          </a:prstGeom>
          <a:noFill/>
        </p:spPr>
        <p:txBody>
          <a:bodyPr wrap="square">
            <a:spAutoFit/>
          </a:bodyPr>
          <a:lstStyle/>
          <a:p>
            <a:pPr algn="ctr"/>
            <a:r>
              <a:rPr sz="1100" b="1">
                <a:solidFill>
                  <a:srgbClr val="FFFFFF"/>
                </a:solidFill>
                <a:latin typeface="Aptos"/>
              </a:rPr>
              <a:t>Books</a:t>
            </a:r>
          </a:p>
        </p:txBody>
      </p:sp>
      <p:sp>
        <p:nvSpPr>
          <p:cNvPr id="13" name="Rounded Rectangle 12"/>
          <p:cNvSpPr/>
          <p:nvPr/>
        </p:nvSpPr>
        <p:spPr>
          <a:xfrm>
            <a:off x="713232" y="3383279"/>
            <a:ext cx="1691640" cy="438912"/>
          </a:xfrm>
          <a:prstGeom prst="roundRect">
            <a:avLst>
              <a:gd name="adj" fmla="val 8000"/>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3465576"/>
            <a:ext cx="1691640" cy="219456"/>
          </a:xfrm>
          <a:prstGeom prst="rect">
            <a:avLst/>
          </a:prstGeom>
          <a:noFill/>
        </p:spPr>
        <p:txBody>
          <a:bodyPr wrap="square">
            <a:spAutoFit/>
          </a:bodyPr>
          <a:lstStyle/>
          <a:p>
            <a:pPr algn="ctr"/>
            <a:r>
              <a:rPr sz="1100" b="1">
                <a:solidFill>
                  <a:srgbClr val="FFFFFF"/>
                </a:solidFill>
                <a:latin typeface="Aptos"/>
              </a:rPr>
              <a:t>Students</a:t>
            </a:r>
          </a:p>
        </p:txBody>
      </p:sp>
      <p:sp>
        <p:nvSpPr>
          <p:cNvPr id="15" name="Rounded Rectangle 14"/>
          <p:cNvSpPr/>
          <p:nvPr/>
        </p:nvSpPr>
        <p:spPr>
          <a:xfrm>
            <a:off x="713232" y="4023359"/>
            <a:ext cx="1691640" cy="438912"/>
          </a:xfrm>
          <a:prstGeom prst="roundRect">
            <a:avLst>
              <a:gd name="adj" fmla="val 8000"/>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4105656"/>
            <a:ext cx="1691640" cy="219456"/>
          </a:xfrm>
          <a:prstGeom prst="rect">
            <a:avLst/>
          </a:prstGeom>
          <a:noFill/>
        </p:spPr>
        <p:txBody>
          <a:bodyPr wrap="square">
            <a:spAutoFit/>
          </a:bodyPr>
          <a:lstStyle/>
          <a:p>
            <a:pPr algn="ctr"/>
            <a:r>
              <a:rPr sz="1100" b="1">
                <a:solidFill>
                  <a:srgbClr val="FFFFFF"/>
                </a:solidFill>
                <a:latin typeface="Aptos"/>
              </a:rPr>
              <a:t>Issue / Return</a:t>
            </a:r>
          </a:p>
        </p:txBody>
      </p:sp>
      <p:sp>
        <p:nvSpPr>
          <p:cNvPr id="17" name="Rounded Rectangle 16"/>
          <p:cNvSpPr/>
          <p:nvPr/>
        </p:nvSpPr>
        <p:spPr>
          <a:xfrm>
            <a:off x="713232" y="4663440"/>
            <a:ext cx="1691640" cy="438912"/>
          </a:xfrm>
          <a:prstGeom prst="roundRect">
            <a:avLst>
              <a:gd name="adj" fmla="val 8000"/>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4745736"/>
            <a:ext cx="1691640" cy="219456"/>
          </a:xfrm>
          <a:prstGeom prst="rect">
            <a:avLst/>
          </a:prstGeom>
          <a:noFill/>
        </p:spPr>
        <p:txBody>
          <a:bodyPr wrap="square">
            <a:spAutoFit/>
          </a:bodyPr>
          <a:lstStyle/>
          <a:p>
            <a:pPr algn="ctr"/>
            <a:r>
              <a:rPr sz="1100" b="1">
                <a:solidFill>
                  <a:srgbClr val="FFFFFF"/>
                </a:solidFill>
                <a:latin typeface="Aptos"/>
              </a:rPr>
              <a:t>Reports</a:t>
            </a:r>
          </a:p>
        </p:txBody>
      </p:sp>
      <p:sp>
        <p:nvSpPr>
          <p:cNvPr id="19" name="TextBox 18"/>
          <p:cNvSpPr txBox="1"/>
          <p:nvPr/>
        </p:nvSpPr>
        <p:spPr>
          <a:xfrm>
            <a:off x="2880360" y="1508760"/>
            <a:ext cx="5029200" cy="411480"/>
          </a:xfrm>
          <a:prstGeom prst="rect">
            <a:avLst/>
          </a:prstGeom>
          <a:noFill/>
        </p:spPr>
        <p:txBody>
          <a:bodyPr wrap="square">
            <a:spAutoFit/>
          </a:bodyPr>
          <a:lstStyle/>
          <a:p>
            <a:pPr algn="l"/>
            <a:r>
              <a:rPr sz="2300" b="1">
                <a:solidFill>
                  <a:srgbClr val="112B49"/>
                </a:solidFill>
                <a:latin typeface="Aptos"/>
              </a:rPr>
              <a:t>Welcome, Librarian</a:t>
            </a:r>
          </a:p>
        </p:txBody>
      </p:sp>
      <p:sp>
        <p:nvSpPr>
          <p:cNvPr id="20" name="Rounded Rectangle 19"/>
          <p:cNvSpPr/>
          <p:nvPr/>
        </p:nvSpPr>
        <p:spPr>
          <a:xfrm>
            <a:off x="2880360" y="2240280"/>
            <a:ext cx="1828800" cy="1143000"/>
          </a:xfrm>
          <a:prstGeom prst="roundRect">
            <a:avLst>
              <a:gd name="adj" fmla="val 8000"/>
            </a:avLst>
          </a:prstGeom>
          <a:solidFill>
            <a:srgbClr val="F4F8FC"/>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017520" y="2441448"/>
            <a:ext cx="1554480" cy="228600"/>
          </a:xfrm>
          <a:prstGeom prst="rect">
            <a:avLst/>
          </a:prstGeom>
          <a:noFill/>
        </p:spPr>
        <p:txBody>
          <a:bodyPr wrap="square">
            <a:spAutoFit/>
          </a:bodyPr>
          <a:lstStyle/>
          <a:p>
            <a:pPr algn="ctr"/>
            <a:r>
              <a:rPr sz="1000" b="1">
                <a:solidFill>
                  <a:srgbClr val="69737D"/>
                </a:solidFill>
                <a:latin typeface="Aptos"/>
              </a:rPr>
              <a:t>Total Books</a:t>
            </a:r>
          </a:p>
        </p:txBody>
      </p:sp>
      <p:sp>
        <p:nvSpPr>
          <p:cNvPr id="22" name="TextBox 21"/>
          <p:cNvSpPr txBox="1"/>
          <p:nvPr/>
        </p:nvSpPr>
        <p:spPr>
          <a:xfrm>
            <a:off x="3017520" y="2761488"/>
            <a:ext cx="1554480" cy="347472"/>
          </a:xfrm>
          <a:prstGeom prst="rect">
            <a:avLst/>
          </a:prstGeom>
          <a:noFill/>
        </p:spPr>
        <p:txBody>
          <a:bodyPr wrap="square">
            <a:spAutoFit/>
          </a:bodyPr>
          <a:lstStyle/>
          <a:p>
            <a:pPr algn="ctr"/>
            <a:r>
              <a:rPr sz="2400" b="1">
                <a:solidFill>
                  <a:srgbClr val="2368AA"/>
                </a:solidFill>
                <a:latin typeface="Aptos"/>
              </a:rPr>
              <a:t>250</a:t>
            </a:r>
          </a:p>
        </p:txBody>
      </p:sp>
      <p:sp>
        <p:nvSpPr>
          <p:cNvPr id="23" name="Rounded Rectangle 22"/>
          <p:cNvSpPr/>
          <p:nvPr/>
        </p:nvSpPr>
        <p:spPr>
          <a:xfrm>
            <a:off x="4937760" y="2240280"/>
            <a:ext cx="1828800" cy="1143000"/>
          </a:xfrm>
          <a:prstGeom prst="roundRect">
            <a:avLst>
              <a:gd name="adj" fmla="val 8000"/>
            </a:avLst>
          </a:prstGeom>
          <a:solidFill>
            <a:srgbClr val="F4F8FC"/>
          </a:solidFill>
          <a:ln>
            <a:solidFill>
              <a:srgbClr val="2A84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074920" y="2441448"/>
            <a:ext cx="1554480" cy="228600"/>
          </a:xfrm>
          <a:prstGeom prst="rect">
            <a:avLst/>
          </a:prstGeom>
          <a:noFill/>
        </p:spPr>
        <p:txBody>
          <a:bodyPr wrap="square">
            <a:spAutoFit/>
          </a:bodyPr>
          <a:lstStyle/>
          <a:p>
            <a:pPr algn="ctr"/>
            <a:r>
              <a:rPr sz="1000" b="1">
                <a:solidFill>
                  <a:srgbClr val="69737D"/>
                </a:solidFill>
                <a:latin typeface="Aptos"/>
              </a:rPr>
              <a:t>Students</a:t>
            </a:r>
          </a:p>
        </p:txBody>
      </p:sp>
      <p:sp>
        <p:nvSpPr>
          <p:cNvPr id="25" name="TextBox 24"/>
          <p:cNvSpPr txBox="1"/>
          <p:nvPr/>
        </p:nvSpPr>
        <p:spPr>
          <a:xfrm>
            <a:off x="5074920" y="2761488"/>
            <a:ext cx="1554480" cy="347472"/>
          </a:xfrm>
          <a:prstGeom prst="rect">
            <a:avLst/>
          </a:prstGeom>
          <a:noFill/>
        </p:spPr>
        <p:txBody>
          <a:bodyPr wrap="square">
            <a:spAutoFit/>
          </a:bodyPr>
          <a:lstStyle/>
          <a:p>
            <a:pPr algn="ctr"/>
            <a:r>
              <a:rPr sz="2400" b="1">
                <a:solidFill>
                  <a:srgbClr val="2A8459"/>
                </a:solidFill>
                <a:latin typeface="Aptos"/>
              </a:rPr>
              <a:t>180</a:t>
            </a:r>
          </a:p>
        </p:txBody>
      </p:sp>
      <p:sp>
        <p:nvSpPr>
          <p:cNvPr id="26" name="Rounded Rectangle 25"/>
          <p:cNvSpPr/>
          <p:nvPr/>
        </p:nvSpPr>
        <p:spPr>
          <a:xfrm>
            <a:off x="6995160" y="2240280"/>
            <a:ext cx="1828800" cy="1143000"/>
          </a:xfrm>
          <a:prstGeom prst="roundRect">
            <a:avLst>
              <a:gd name="adj" fmla="val 8000"/>
            </a:avLst>
          </a:prstGeom>
          <a:solidFill>
            <a:srgbClr val="F4F8FC"/>
          </a:solidFill>
          <a:ln>
            <a:solidFill>
              <a:srgbClr val="DE8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132320" y="2441448"/>
            <a:ext cx="1554480" cy="228600"/>
          </a:xfrm>
          <a:prstGeom prst="rect">
            <a:avLst/>
          </a:prstGeom>
          <a:noFill/>
        </p:spPr>
        <p:txBody>
          <a:bodyPr wrap="square">
            <a:spAutoFit/>
          </a:bodyPr>
          <a:lstStyle/>
          <a:p>
            <a:pPr algn="ctr"/>
            <a:r>
              <a:rPr sz="1000" b="1">
                <a:solidFill>
                  <a:srgbClr val="69737D"/>
                </a:solidFill>
                <a:latin typeface="Aptos"/>
              </a:rPr>
              <a:t>Issued Books</a:t>
            </a:r>
          </a:p>
        </p:txBody>
      </p:sp>
      <p:sp>
        <p:nvSpPr>
          <p:cNvPr id="28" name="TextBox 27"/>
          <p:cNvSpPr txBox="1"/>
          <p:nvPr/>
        </p:nvSpPr>
        <p:spPr>
          <a:xfrm>
            <a:off x="7132320" y="2761488"/>
            <a:ext cx="1554480" cy="347472"/>
          </a:xfrm>
          <a:prstGeom prst="rect">
            <a:avLst/>
          </a:prstGeom>
          <a:noFill/>
        </p:spPr>
        <p:txBody>
          <a:bodyPr wrap="square">
            <a:spAutoFit/>
          </a:bodyPr>
          <a:lstStyle/>
          <a:p>
            <a:pPr algn="ctr"/>
            <a:r>
              <a:rPr sz="2400" b="1">
                <a:solidFill>
                  <a:srgbClr val="DE872B"/>
                </a:solidFill>
                <a:latin typeface="Aptos"/>
              </a:rPr>
              <a:t>36</a:t>
            </a:r>
          </a:p>
        </p:txBody>
      </p:sp>
      <p:sp>
        <p:nvSpPr>
          <p:cNvPr id="29" name="Rounded Rectangle 28"/>
          <p:cNvSpPr/>
          <p:nvPr/>
        </p:nvSpPr>
        <p:spPr>
          <a:xfrm>
            <a:off x="9052560" y="2240280"/>
            <a:ext cx="1828800" cy="1143000"/>
          </a:xfrm>
          <a:prstGeom prst="roundRect">
            <a:avLst>
              <a:gd name="adj" fmla="val 8000"/>
            </a:avLst>
          </a:prstGeom>
          <a:solidFill>
            <a:srgbClr val="F4F8FC"/>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189720" y="2441448"/>
            <a:ext cx="1554480" cy="228600"/>
          </a:xfrm>
          <a:prstGeom prst="rect">
            <a:avLst/>
          </a:prstGeom>
          <a:noFill/>
        </p:spPr>
        <p:txBody>
          <a:bodyPr wrap="square">
            <a:spAutoFit/>
          </a:bodyPr>
          <a:lstStyle/>
          <a:p>
            <a:pPr algn="ctr"/>
            <a:r>
              <a:rPr sz="1000" b="1">
                <a:solidFill>
                  <a:srgbClr val="69737D"/>
                </a:solidFill>
                <a:latin typeface="Aptos"/>
              </a:rPr>
              <a:t>Available</a:t>
            </a:r>
          </a:p>
        </p:txBody>
      </p:sp>
      <p:sp>
        <p:nvSpPr>
          <p:cNvPr id="31" name="TextBox 30"/>
          <p:cNvSpPr txBox="1"/>
          <p:nvPr/>
        </p:nvSpPr>
        <p:spPr>
          <a:xfrm>
            <a:off x="9189720" y="2761488"/>
            <a:ext cx="1554480" cy="347472"/>
          </a:xfrm>
          <a:prstGeom prst="rect">
            <a:avLst/>
          </a:prstGeom>
          <a:noFill/>
        </p:spPr>
        <p:txBody>
          <a:bodyPr wrap="square">
            <a:spAutoFit/>
          </a:bodyPr>
          <a:lstStyle/>
          <a:p>
            <a:pPr algn="ctr"/>
            <a:r>
              <a:rPr sz="2400" b="1">
                <a:solidFill>
                  <a:srgbClr val="112B49"/>
                </a:solidFill>
                <a:latin typeface="Aptos"/>
              </a:rPr>
              <a:t>214</a:t>
            </a:r>
          </a:p>
        </p:txBody>
      </p:sp>
      <p:sp>
        <p:nvSpPr>
          <p:cNvPr id="32" name="TextBox 31"/>
          <p:cNvSpPr txBox="1"/>
          <p:nvPr/>
        </p:nvSpPr>
        <p:spPr>
          <a:xfrm>
            <a:off x="2880360" y="3703320"/>
            <a:ext cx="2743200" cy="320040"/>
          </a:xfrm>
          <a:prstGeom prst="rect">
            <a:avLst/>
          </a:prstGeom>
          <a:noFill/>
        </p:spPr>
        <p:txBody>
          <a:bodyPr wrap="square">
            <a:spAutoFit/>
          </a:bodyPr>
          <a:lstStyle/>
          <a:p>
            <a:pPr algn="l"/>
            <a:r>
              <a:rPr sz="1600" b="1">
                <a:solidFill>
                  <a:srgbClr val="112B49"/>
                </a:solidFill>
                <a:latin typeface="Aptos"/>
              </a:rPr>
              <a:t>Recent Activity</a:t>
            </a:r>
          </a:p>
        </p:txBody>
      </p:sp>
      <p:sp>
        <p:nvSpPr>
          <p:cNvPr id="33" name="Rounded Rectangle 32"/>
          <p:cNvSpPr/>
          <p:nvPr/>
        </p:nvSpPr>
        <p:spPr>
          <a:xfrm>
            <a:off x="2880360" y="4160520"/>
            <a:ext cx="8138160" cy="384048"/>
          </a:xfrm>
          <a:prstGeom prst="roundRect">
            <a:avLst>
              <a:gd name="adj" fmla="val 8000"/>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063240" y="4242816"/>
            <a:ext cx="7680960" cy="201168"/>
          </a:xfrm>
          <a:prstGeom prst="rect">
            <a:avLst/>
          </a:prstGeom>
          <a:noFill/>
        </p:spPr>
        <p:txBody>
          <a:bodyPr wrap="square">
            <a:spAutoFit/>
          </a:bodyPr>
          <a:lstStyle/>
          <a:p>
            <a:pPr algn="l"/>
            <a:r>
              <a:rPr sz="1100" b="0">
                <a:solidFill>
                  <a:srgbClr val="232D37"/>
                </a:solidFill>
                <a:latin typeface="Aptos"/>
              </a:rPr>
              <a:t>B-102 • Issued to S-018</a:t>
            </a:r>
          </a:p>
        </p:txBody>
      </p:sp>
      <p:sp>
        <p:nvSpPr>
          <p:cNvPr id="35" name="Rounded Rectangle 34"/>
          <p:cNvSpPr/>
          <p:nvPr/>
        </p:nvSpPr>
        <p:spPr>
          <a:xfrm>
            <a:off x="2880360" y="4663440"/>
            <a:ext cx="8138160" cy="384048"/>
          </a:xfrm>
          <a:prstGeom prst="roundRect">
            <a:avLst>
              <a:gd name="adj" fmla="val 8000"/>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063240" y="4745736"/>
            <a:ext cx="7680960" cy="201168"/>
          </a:xfrm>
          <a:prstGeom prst="rect">
            <a:avLst/>
          </a:prstGeom>
          <a:noFill/>
        </p:spPr>
        <p:txBody>
          <a:bodyPr wrap="square">
            <a:spAutoFit/>
          </a:bodyPr>
          <a:lstStyle/>
          <a:p>
            <a:pPr algn="l"/>
            <a:r>
              <a:rPr sz="1100" b="0">
                <a:solidFill>
                  <a:srgbClr val="232D37"/>
                </a:solidFill>
                <a:latin typeface="Aptos"/>
              </a:rPr>
              <a:t>B-087 • Returned by S-031</a:t>
            </a:r>
          </a:p>
        </p:txBody>
      </p:sp>
      <p:sp>
        <p:nvSpPr>
          <p:cNvPr id="37" name="Rounded Rectangle 36"/>
          <p:cNvSpPr/>
          <p:nvPr/>
        </p:nvSpPr>
        <p:spPr>
          <a:xfrm>
            <a:off x="2880360" y="5166360"/>
            <a:ext cx="8138160" cy="384048"/>
          </a:xfrm>
          <a:prstGeom prst="roundRect">
            <a:avLst>
              <a:gd name="adj" fmla="val 8000"/>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063240" y="5248656"/>
            <a:ext cx="7680960" cy="201168"/>
          </a:xfrm>
          <a:prstGeom prst="rect">
            <a:avLst/>
          </a:prstGeom>
          <a:noFill/>
        </p:spPr>
        <p:txBody>
          <a:bodyPr wrap="square">
            <a:spAutoFit/>
          </a:bodyPr>
          <a:lstStyle/>
          <a:p>
            <a:pPr algn="l"/>
            <a:r>
              <a:rPr sz="1100" b="0">
                <a:solidFill>
                  <a:srgbClr val="232D37"/>
                </a:solidFill>
                <a:latin typeface="Aptos"/>
              </a:rPr>
              <a:t>B-145 • New book added</a:t>
            </a:r>
          </a:p>
        </p:txBody>
      </p:sp>
      <p:sp>
        <p:nvSpPr>
          <p:cNvPr id="39" name="TextBox 38"/>
          <p:cNvSpPr txBox="1"/>
          <p:nvPr/>
        </p:nvSpPr>
        <p:spPr>
          <a:xfrm>
            <a:off x="530352" y="6510528"/>
            <a:ext cx="11064240" cy="201168"/>
          </a:xfrm>
          <a:prstGeom prst="rect">
            <a:avLst/>
          </a:prstGeom>
          <a:noFill/>
        </p:spPr>
        <p:txBody>
          <a:bodyPr wrap="square">
            <a:spAutoFit/>
          </a:bodyPr>
          <a:lstStyle/>
          <a:p>
            <a:pPr algn="r"/>
            <a:r>
              <a:rPr sz="900" b="0">
                <a:solidFill>
                  <a:srgbClr val="69737D"/>
                </a:solidFill>
                <a:latin typeface="Aptos"/>
              </a:rPr>
              <a:t>Dashboard connects the main library operations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961120" cy="384048"/>
          </a:xfrm>
          <a:prstGeom prst="rect">
            <a:avLst/>
          </a:prstGeom>
          <a:noFill/>
        </p:spPr>
        <p:txBody>
          <a:bodyPr wrap="square">
            <a:spAutoFit/>
          </a:bodyPr>
          <a:lstStyle/>
          <a:p>
            <a:pPr algn="l"/>
            <a:r>
              <a:rPr sz="2400" b="1">
                <a:solidFill>
                  <a:srgbClr val="FFFFFF"/>
                </a:solidFill>
                <a:latin typeface="Aptos"/>
              </a:rPr>
              <a:t>Book Management — Add / Search</a:t>
            </a:r>
          </a:p>
        </p:txBody>
      </p:sp>
      <p:sp>
        <p:nvSpPr>
          <p:cNvPr id="4" name="TextBox 3"/>
          <p:cNvSpPr txBox="1"/>
          <p:nvPr/>
        </p:nvSpPr>
        <p:spPr>
          <a:xfrm>
            <a:off x="11064240" y="118872"/>
            <a:ext cx="594360" cy="320040"/>
          </a:xfrm>
          <a:prstGeom prst="rect">
            <a:avLst/>
          </a:prstGeom>
          <a:noFill/>
        </p:spPr>
        <p:txBody>
          <a:bodyPr wrap="square">
            <a:spAutoFit/>
          </a:bodyPr>
          <a:lstStyle/>
          <a:p>
            <a:pPr algn="r"/>
            <a:r>
              <a:rPr sz="1800" b="1">
                <a:solidFill>
                  <a:srgbClr val="FFFFFF"/>
                </a:solidFill>
                <a:latin typeface="Aptos"/>
              </a:rPr>
              <a:t>03</a:t>
            </a:r>
          </a:p>
        </p:txBody>
      </p:sp>
      <p:sp>
        <p:nvSpPr>
          <p:cNvPr id="5" name="TextBox 4"/>
          <p:cNvSpPr txBox="1"/>
          <p:nvPr/>
        </p:nvSpPr>
        <p:spPr>
          <a:xfrm>
            <a:off x="4251960" y="802491"/>
            <a:ext cx="7772400" cy="274320"/>
          </a:xfrm>
          <a:prstGeom prst="rect">
            <a:avLst/>
          </a:prstGeom>
          <a:noFill/>
        </p:spPr>
        <p:txBody>
          <a:bodyPr wrap="square">
            <a:spAutoFit/>
          </a:bodyPr>
          <a:lstStyle/>
          <a:p>
            <a:pPr algn="l"/>
            <a:r>
              <a:rPr sz="1000" b="0" dirty="0">
                <a:solidFill>
                  <a:srgbClr val="69737D"/>
                </a:solidFill>
                <a:latin typeface="Aptos"/>
              </a:rPr>
              <a:t>Library Management System • Sample Output</a:t>
            </a:r>
          </a:p>
        </p:txBody>
      </p:sp>
      <p:sp>
        <p:nvSpPr>
          <p:cNvPr id="6" name="Rounded Rectangle 5"/>
          <p:cNvSpPr/>
          <p:nvPr/>
        </p:nvSpPr>
        <p:spPr>
          <a:xfrm>
            <a:off x="530352" y="658368"/>
            <a:ext cx="5303520" cy="5559552"/>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417320"/>
            <a:ext cx="4389120" cy="365760"/>
          </a:xfrm>
          <a:prstGeom prst="rect">
            <a:avLst/>
          </a:prstGeom>
          <a:noFill/>
        </p:spPr>
        <p:txBody>
          <a:bodyPr wrap="square">
            <a:spAutoFit/>
          </a:bodyPr>
          <a:lstStyle/>
          <a:p>
            <a:pPr algn="l"/>
            <a:r>
              <a:rPr sz="2100" b="1">
                <a:solidFill>
                  <a:srgbClr val="112B49"/>
                </a:solidFill>
                <a:latin typeface="Aptos"/>
              </a:rPr>
              <a:t>Add New Book</a:t>
            </a:r>
          </a:p>
        </p:txBody>
      </p:sp>
      <p:sp>
        <p:nvSpPr>
          <p:cNvPr id="8" name="TextBox 7"/>
          <p:cNvSpPr txBox="1"/>
          <p:nvPr/>
        </p:nvSpPr>
        <p:spPr>
          <a:xfrm>
            <a:off x="822960" y="1965960"/>
            <a:ext cx="1920240" cy="201168"/>
          </a:xfrm>
          <a:prstGeom prst="rect">
            <a:avLst/>
          </a:prstGeom>
          <a:noFill/>
        </p:spPr>
        <p:txBody>
          <a:bodyPr wrap="square">
            <a:spAutoFit/>
          </a:bodyPr>
          <a:lstStyle/>
          <a:p>
            <a:pPr algn="l"/>
            <a:r>
              <a:rPr sz="1000" b="1">
                <a:solidFill>
                  <a:srgbClr val="69737D"/>
                </a:solidFill>
                <a:latin typeface="Aptos"/>
              </a:rPr>
              <a:t>BOOK ID</a:t>
            </a:r>
          </a:p>
        </p:txBody>
      </p:sp>
      <p:sp>
        <p:nvSpPr>
          <p:cNvPr id="9" name="Rounded Rectangle 8"/>
          <p:cNvSpPr/>
          <p:nvPr/>
        </p:nvSpPr>
        <p:spPr>
          <a:xfrm>
            <a:off x="822960" y="2194560"/>
            <a:ext cx="192024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2276856"/>
            <a:ext cx="1664208" cy="228600"/>
          </a:xfrm>
          <a:prstGeom prst="rect">
            <a:avLst/>
          </a:prstGeom>
          <a:noFill/>
        </p:spPr>
        <p:txBody>
          <a:bodyPr wrap="square">
            <a:spAutoFit/>
          </a:bodyPr>
          <a:lstStyle/>
          <a:p>
            <a:pPr algn="l"/>
            <a:r>
              <a:rPr sz="1200" b="0">
                <a:solidFill>
                  <a:srgbClr val="232D37"/>
                </a:solidFill>
                <a:latin typeface="Aptos"/>
              </a:rPr>
              <a:t>B-145</a:t>
            </a:r>
          </a:p>
        </p:txBody>
      </p:sp>
      <p:sp>
        <p:nvSpPr>
          <p:cNvPr id="11" name="TextBox 10"/>
          <p:cNvSpPr txBox="1"/>
          <p:nvPr/>
        </p:nvSpPr>
        <p:spPr>
          <a:xfrm>
            <a:off x="2926080" y="1965960"/>
            <a:ext cx="2560320" cy="201168"/>
          </a:xfrm>
          <a:prstGeom prst="rect">
            <a:avLst/>
          </a:prstGeom>
          <a:noFill/>
        </p:spPr>
        <p:txBody>
          <a:bodyPr wrap="square">
            <a:spAutoFit/>
          </a:bodyPr>
          <a:lstStyle/>
          <a:p>
            <a:pPr algn="l"/>
            <a:r>
              <a:rPr sz="1000" b="1">
                <a:solidFill>
                  <a:srgbClr val="69737D"/>
                </a:solidFill>
                <a:latin typeface="Aptos"/>
              </a:rPr>
              <a:t>TITLE</a:t>
            </a:r>
          </a:p>
        </p:txBody>
      </p:sp>
      <p:sp>
        <p:nvSpPr>
          <p:cNvPr id="12" name="Rounded Rectangle 11"/>
          <p:cNvSpPr/>
          <p:nvPr/>
        </p:nvSpPr>
        <p:spPr>
          <a:xfrm>
            <a:off x="2926080" y="2194560"/>
            <a:ext cx="256032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054096" y="2276856"/>
            <a:ext cx="2304287" cy="228600"/>
          </a:xfrm>
          <a:prstGeom prst="rect">
            <a:avLst/>
          </a:prstGeom>
          <a:noFill/>
        </p:spPr>
        <p:txBody>
          <a:bodyPr wrap="square">
            <a:spAutoFit/>
          </a:bodyPr>
          <a:lstStyle/>
          <a:p>
            <a:pPr algn="l"/>
            <a:r>
              <a:rPr sz="1200" b="0">
                <a:solidFill>
                  <a:srgbClr val="232D37"/>
                </a:solidFill>
                <a:latin typeface="Aptos"/>
              </a:rPr>
              <a:t>Database Systems</a:t>
            </a:r>
          </a:p>
        </p:txBody>
      </p:sp>
      <p:sp>
        <p:nvSpPr>
          <p:cNvPr id="14" name="TextBox 13"/>
          <p:cNvSpPr txBox="1"/>
          <p:nvPr/>
        </p:nvSpPr>
        <p:spPr>
          <a:xfrm>
            <a:off x="822960" y="2788920"/>
            <a:ext cx="1920240" cy="201168"/>
          </a:xfrm>
          <a:prstGeom prst="rect">
            <a:avLst/>
          </a:prstGeom>
          <a:noFill/>
        </p:spPr>
        <p:txBody>
          <a:bodyPr wrap="square">
            <a:spAutoFit/>
          </a:bodyPr>
          <a:lstStyle/>
          <a:p>
            <a:pPr algn="l"/>
            <a:r>
              <a:rPr sz="1000" b="1">
                <a:solidFill>
                  <a:srgbClr val="69737D"/>
                </a:solidFill>
                <a:latin typeface="Aptos"/>
              </a:rPr>
              <a:t>AUTHOR ID</a:t>
            </a:r>
          </a:p>
        </p:txBody>
      </p:sp>
      <p:sp>
        <p:nvSpPr>
          <p:cNvPr id="15" name="Rounded Rectangle 14"/>
          <p:cNvSpPr/>
          <p:nvPr/>
        </p:nvSpPr>
        <p:spPr>
          <a:xfrm>
            <a:off x="822960" y="3017520"/>
            <a:ext cx="192024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0976" y="3099815"/>
            <a:ext cx="1664208" cy="228600"/>
          </a:xfrm>
          <a:prstGeom prst="rect">
            <a:avLst/>
          </a:prstGeom>
          <a:noFill/>
        </p:spPr>
        <p:txBody>
          <a:bodyPr wrap="square">
            <a:spAutoFit/>
          </a:bodyPr>
          <a:lstStyle/>
          <a:p>
            <a:pPr algn="l"/>
            <a:r>
              <a:rPr sz="1200" b="0">
                <a:solidFill>
                  <a:srgbClr val="232D37"/>
                </a:solidFill>
                <a:latin typeface="Aptos"/>
              </a:rPr>
              <a:t>A-014</a:t>
            </a:r>
          </a:p>
        </p:txBody>
      </p:sp>
      <p:sp>
        <p:nvSpPr>
          <p:cNvPr id="17" name="TextBox 16"/>
          <p:cNvSpPr txBox="1"/>
          <p:nvPr/>
        </p:nvSpPr>
        <p:spPr>
          <a:xfrm>
            <a:off x="2926080" y="2788920"/>
            <a:ext cx="2560320" cy="201168"/>
          </a:xfrm>
          <a:prstGeom prst="rect">
            <a:avLst/>
          </a:prstGeom>
          <a:noFill/>
        </p:spPr>
        <p:txBody>
          <a:bodyPr wrap="square">
            <a:spAutoFit/>
          </a:bodyPr>
          <a:lstStyle/>
          <a:p>
            <a:pPr algn="l"/>
            <a:r>
              <a:rPr sz="1000" b="1">
                <a:solidFill>
                  <a:srgbClr val="69737D"/>
                </a:solidFill>
                <a:latin typeface="Aptos"/>
              </a:rPr>
              <a:t>CATEGORY</a:t>
            </a:r>
          </a:p>
        </p:txBody>
      </p:sp>
      <p:sp>
        <p:nvSpPr>
          <p:cNvPr id="18" name="Rounded Rectangle 17"/>
          <p:cNvSpPr/>
          <p:nvPr/>
        </p:nvSpPr>
        <p:spPr>
          <a:xfrm>
            <a:off x="2926080" y="3017520"/>
            <a:ext cx="256032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054096" y="3099815"/>
            <a:ext cx="2304287" cy="228600"/>
          </a:xfrm>
          <a:prstGeom prst="rect">
            <a:avLst/>
          </a:prstGeom>
          <a:noFill/>
        </p:spPr>
        <p:txBody>
          <a:bodyPr wrap="square">
            <a:spAutoFit/>
          </a:bodyPr>
          <a:lstStyle/>
          <a:p>
            <a:pPr algn="l"/>
            <a:r>
              <a:rPr sz="1200" b="0">
                <a:solidFill>
                  <a:srgbClr val="232D37"/>
                </a:solidFill>
                <a:latin typeface="Aptos"/>
              </a:rPr>
              <a:t>Computer Science</a:t>
            </a:r>
          </a:p>
        </p:txBody>
      </p:sp>
      <p:sp>
        <p:nvSpPr>
          <p:cNvPr id="20" name="TextBox 19"/>
          <p:cNvSpPr txBox="1"/>
          <p:nvPr/>
        </p:nvSpPr>
        <p:spPr>
          <a:xfrm>
            <a:off x="822960" y="3611880"/>
            <a:ext cx="1920240" cy="201168"/>
          </a:xfrm>
          <a:prstGeom prst="rect">
            <a:avLst/>
          </a:prstGeom>
          <a:noFill/>
        </p:spPr>
        <p:txBody>
          <a:bodyPr wrap="square">
            <a:spAutoFit/>
          </a:bodyPr>
          <a:lstStyle/>
          <a:p>
            <a:pPr algn="l"/>
            <a:r>
              <a:rPr sz="1000" b="1">
                <a:solidFill>
                  <a:srgbClr val="69737D"/>
                </a:solidFill>
                <a:latin typeface="Aptos"/>
              </a:rPr>
              <a:t>COPIES</a:t>
            </a:r>
          </a:p>
        </p:txBody>
      </p:sp>
      <p:sp>
        <p:nvSpPr>
          <p:cNvPr id="21" name="Rounded Rectangle 20"/>
          <p:cNvSpPr/>
          <p:nvPr/>
        </p:nvSpPr>
        <p:spPr>
          <a:xfrm>
            <a:off x="822960" y="3840480"/>
            <a:ext cx="192024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0976" y="3922776"/>
            <a:ext cx="1664208" cy="228600"/>
          </a:xfrm>
          <a:prstGeom prst="rect">
            <a:avLst/>
          </a:prstGeom>
          <a:noFill/>
        </p:spPr>
        <p:txBody>
          <a:bodyPr wrap="square">
            <a:spAutoFit/>
          </a:bodyPr>
          <a:lstStyle/>
          <a:p>
            <a:pPr algn="l"/>
            <a:r>
              <a:rPr sz="1200" b="0">
                <a:solidFill>
                  <a:srgbClr val="232D37"/>
                </a:solidFill>
                <a:latin typeface="Aptos"/>
              </a:rPr>
              <a:t>5</a:t>
            </a:r>
          </a:p>
        </p:txBody>
      </p:sp>
      <p:sp>
        <p:nvSpPr>
          <p:cNvPr id="23" name="Rounded Rectangle 22"/>
          <p:cNvSpPr/>
          <p:nvPr/>
        </p:nvSpPr>
        <p:spPr>
          <a:xfrm>
            <a:off x="2926080" y="3886200"/>
            <a:ext cx="2560320" cy="438912"/>
          </a:xfrm>
          <a:prstGeom prst="roundRect">
            <a:avLst>
              <a:gd name="adj" fmla="val 8000"/>
            </a:avLst>
          </a:prstGeom>
          <a:solidFill>
            <a:srgbClr val="2A8459"/>
          </a:solidFill>
          <a:ln>
            <a:solidFill>
              <a:srgbClr val="2A84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926080" y="3968496"/>
            <a:ext cx="2560320" cy="228600"/>
          </a:xfrm>
          <a:prstGeom prst="rect">
            <a:avLst/>
          </a:prstGeom>
          <a:noFill/>
        </p:spPr>
        <p:txBody>
          <a:bodyPr wrap="square">
            <a:spAutoFit/>
          </a:bodyPr>
          <a:lstStyle/>
          <a:p>
            <a:pPr algn="ctr"/>
            <a:r>
              <a:rPr sz="1200" b="1">
                <a:solidFill>
                  <a:srgbClr val="FFFFFF"/>
                </a:solidFill>
                <a:latin typeface="Aptos"/>
              </a:rPr>
              <a:t>SAVE BOOK</a:t>
            </a:r>
          </a:p>
        </p:txBody>
      </p:sp>
      <p:sp>
        <p:nvSpPr>
          <p:cNvPr id="25" name="Rounded Rectangle 24"/>
          <p:cNvSpPr/>
          <p:nvPr/>
        </p:nvSpPr>
        <p:spPr>
          <a:xfrm>
            <a:off x="822960" y="4617720"/>
            <a:ext cx="4709160" cy="502920"/>
          </a:xfrm>
          <a:prstGeom prst="roundRect">
            <a:avLst>
              <a:gd name="adj" fmla="val 8000"/>
            </a:avLst>
          </a:prstGeom>
          <a:solidFill>
            <a:srgbClr val="EBF9F1"/>
          </a:solidFill>
          <a:ln>
            <a:solidFill>
              <a:srgbClr val="BEE1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0120" y="4754880"/>
            <a:ext cx="4434840" cy="228600"/>
          </a:xfrm>
          <a:prstGeom prst="rect">
            <a:avLst/>
          </a:prstGeom>
          <a:noFill/>
        </p:spPr>
        <p:txBody>
          <a:bodyPr wrap="square">
            <a:spAutoFit/>
          </a:bodyPr>
          <a:lstStyle/>
          <a:p>
            <a:pPr algn="l"/>
            <a:r>
              <a:rPr sz="1100" b="1">
                <a:solidFill>
                  <a:srgbClr val="2A8459"/>
                </a:solidFill>
                <a:latin typeface="Aptos"/>
              </a:rPr>
              <a:t>✓ Book record saved successfully</a:t>
            </a:r>
          </a:p>
        </p:txBody>
      </p:sp>
      <p:sp>
        <p:nvSpPr>
          <p:cNvPr id="27" name="Rounded Rectangle 26"/>
          <p:cNvSpPr/>
          <p:nvPr/>
        </p:nvSpPr>
        <p:spPr>
          <a:xfrm>
            <a:off x="5824728" y="658368"/>
            <a:ext cx="5815584" cy="5559552"/>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0" y="1417320"/>
            <a:ext cx="4754880" cy="365760"/>
          </a:xfrm>
          <a:prstGeom prst="rect">
            <a:avLst/>
          </a:prstGeom>
          <a:noFill/>
        </p:spPr>
        <p:txBody>
          <a:bodyPr wrap="square">
            <a:spAutoFit/>
          </a:bodyPr>
          <a:lstStyle/>
          <a:p>
            <a:pPr algn="l"/>
            <a:r>
              <a:rPr sz="2100" b="1">
                <a:solidFill>
                  <a:srgbClr val="112B49"/>
                </a:solidFill>
                <a:latin typeface="Aptos"/>
              </a:rPr>
              <a:t>Search Books</a:t>
            </a:r>
          </a:p>
        </p:txBody>
      </p:sp>
      <p:sp>
        <p:nvSpPr>
          <p:cNvPr id="29" name="TextBox 28"/>
          <p:cNvSpPr txBox="1"/>
          <p:nvPr/>
        </p:nvSpPr>
        <p:spPr>
          <a:xfrm>
            <a:off x="6400800" y="1965960"/>
            <a:ext cx="3794760" cy="201168"/>
          </a:xfrm>
          <a:prstGeom prst="rect">
            <a:avLst/>
          </a:prstGeom>
          <a:noFill/>
        </p:spPr>
        <p:txBody>
          <a:bodyPr wrap="square">
            <a:spAutoFit/>
          </a:bodyPr>
          <a:lstStyle/>
          <a:p>
            <a:pPr algn="l"/>
            <a:r>
              <a:rPr sz="1000" b="1">
                <a:solidFill>
                  <a:srgbClr val="69737D"/>
                </a:solidFill>
                <a:latin typeface="Aptos"/>
              </a:rPr>
              <a:t>SEARCH BY TITLE / ID</a:t>
            </a:r>
          </a:p>
        </p:txBody>
      </p:sp>
      <p:sp>
        <p:nvSpPr>
          <p:cNvPr id="30" name="Rounded Rectangle 29"/>
          <p:cNvSpPr/>
          <p:nvPr/>
        </p:nvSpPr>
        <p:spPr>
          <a:xfrm>
            <a:off x="6400800" y="2194560"/>
            <a:ext cx="379476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528816" y="2276856"/>
            <a:ext cx="3538728" cy="228600"/>
          </a:xfrm>
          <a:prstGeom prst="rect">
            <a:avLst/>
          </a:prstGeom>
          <a:noFill/>
        </p:spPr>
        <p:txBody>
          <a:bodyPr wrap="square">
            <a:spAutoFit/>
          </a:bodyPr>
          <a:lstStyle/>
          <a:p>
            <a:pPr algn="l"/>
            <a:r>
              <a:rPr sz="1200" b="0">
                <a:solidFill>
                  <a:srgbClr val="232D37"/>
                </a:solidFill>
                <a:latin typeface="Aptos"/>
              </a:rPr>
              <a:t>Database</a:t>
            </a:r>
          </a:p>
        </p:txBody>
      </p:sp>
      <p:sp>
        <p:nvSpPr>
          <p:cNvPr id="32" name="Rounded Rectangle 31"/>
          <p:cNvSpPr/>
          <p:nvPr/>
        </p:nvSpPr>
        <p:spPr>
          <a:xfrm>
            <a:off x="10332720" y="2194560"/>
            <a:ext cx="914400" cy="438912"/>
          </a:xfrm>
          <a:prstGeom prst="roundRect">
            <a:avLst>
              <a:gd name="adj" fmla="val 8000"/>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332720" y="2276856"/>
            <a:ext cx="914400" cy="228600"/>
          </a:xfrm>
          <a:prstGeom prst="rect">
            <a:avLst/>
          </a:prstGeom>
          <a:noFill/>
        </p:spPr>
        <p:txBody>
          <a:bodyPr wrap="square">
            <a:spAutoFit/>
          </a:bodyPr>
          <a:lstStyle/>
          <a:p>
            <a:pPr algn="ctr"/>
            <a:r>
              <a:rPr sz="1200" b="1">
                <a:solidFill>
                  <a:srgbClr val="FFFFFF"/>
                </a:solidFill>
                <a:latin typeface="Aptos"/>
              </a:rPr>
              <a:t>SEARCH</a:t>
            </a:r>
          </a:p>
        </p:txBody>
      </p:sp>
      <p:sp>
        <p:nvSpPr>
          <p:cNvPr id="34" name="TextBox 33"/>
          <p:cNvSpPr txBox="1"/>
          <p:nvPr/>
        </p:nvSpPr>
        <p:spPr>
          <a:xfrm>
            <a:off x="6400800" y="2788920"/>
            <a:ext cx="4572000" cy="274320"/>
          </a:xfrm>
          <a:prstGeom prst="rect">
            <a:avLst/>
          </a:prstGeom>
          <a:noFill/>
        </p:spPr>
        <p:txBody>
          <a:bodyPr wrap="square">
            <a:spAutoFit/>
          </a:bodyPr>
          <a:lstStyle/>
          <a:p>
            <a:pPr algn="l"/>
            <a:r>
              <a:rPr sz="1300" b="1">
                <a:solidFill>
                  <a:srgbClr val="69737D"/>
                </a:solidFill>
                <a:latin typeface="Aptos"/>
              </a:rPr>
              <a:t>Search Result</a:t>
            </a:r>
          </a:p>
        </p:txBody>
      </p:sp>
      <p:sp>
        <p:nvSpPr>
          <p:cNvPr id="35" name="TextBox 34"/>
          <p:cNvSpPr txBox="1"/>
          <p:nvPr/>
        </p:nvSpPr>
        <p:spPr>
          <a:xfrm>
            <a:off x="6400800" y="3182112"/>
            <a:ext cx="868680" cy="228600"/>
          </a:xfrm>
          <a:prstGeom prst="rect">
            <a:avLst/>
          </a:prstGeom>
          <a:noFill/>
        </p:spPr>
        <p:txBody>
          <a:bodyPr wrap="square">
            <a:spAutoFit/>
          </a:bodyPr>
          <a:lstStyle/>
          <a:p>
            <a:pPr algn="ctr"/>
            <a:r>
              <a:rPr sz="1000" b="1">
                <a:solidFill>
                  <a:srgbClr val="FFFFFF"/>
                </a:solidFill>
                <a:latin typeface="Aptos"/>
              </a:rPr>
              <a:t>Book ID</a:t>
            </a:r>
          </a:p>
        </p:txBody>
      </p:sp>
      <p:sp>
        <p:nvSpPr>
          <p:cNvPr id="36" name="Rectangle 35"/>
          <p:cNvSpPr/>
          <p:nvPr/>
        </p:nvSpPr>
        <p:spPr>
          <a:xfrm>
            <a:off x="6400800" y="3127248"/>
            <a:ext cx="868680" cy="329184"/>
          </a:xfrm>
          <a:prstGeom prst="rect">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315200" y="3182112"/>
            <a:ext cx="1645920" cy="228600"/>
          </a:xfrm>
          <a:prstGeom prst="rect">
            <a:avLst/>
          </a:prstGeom>
          <a:noFill/>
        </p:spPr>
        <p:txBody>
          <a:bodyPr wrap="square">
            <a:spAutoFit/>
          </a:bodyPr>
          <a:lstStyle/>
          <a:p>
            <a:pPr algn="ctr"/>
            <a:r>
              <a:rPr sz="1000" b="1">
                <a:solidFill>
                  <a:srgbClr val="FFFFFF"/>
                </a:solidFill>
                <a:latin typeface="Aptos"/>
              </a:rPr>
              <a:t>Title</a:t>
            </a:r>
          </a:p>
        </p:txBody>
      </p:sp>
      <p:sp>
        <p:nvSpPr>
          <p:cNvPr id="38" name="Rectangle 37"/>
          <p:cNvSpPr/>
          <p:nvPr/>
        </p:nvSpPr>
        <p:spPr>
          <a:xfrm>
            <a:off x="7315200" y="3127248"/>
            <a:ext cx="1645920" cy="329184"/>
          </a:xfrm>
          <a:prstGeom prst="rect">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052560" y="3182112"/>
            <a:ext cx="1188720" cy="228600"/>
          </a:xfrm>
          <a:prstGeom prst="rect">
            <a:avLst/>
          </a:prstGeom>
          <a:noFill/>
        </p:spPr>
        <p:txBody>
          <a:bodyPr wrap="square">
            <a:spAutoFit/>
          </a:bodyPr>
          <a:lstStyle/>
          <a:p>
            <a:pPr algn="ctr"/>
            <a:r>
              <a:rPr sz="1000" b="1">
                <a:solidFill>
                  <a:srgbClr val="FFFFFF"/>
                </a:solidFill>
                <a:latin typeface="Aptos"/>
              </a:rPr>
              <a:t>Author</a:t>
            </a:r>
          </a:p>
        </p:txBody>
      </p:sp>
      <p:sp>
        <p:nvSpPr>
          <p:cNvPr id="40" name="Rectangle 39"/>
          <p:cNvSpPr/>
          <p:nvPr/>
        </p:nvSpPr>
        <p:spPr>
          <a:xfrm>
            <a:off x="9052560" y="3127248"/>
            <a:ext cx="1188720" cy="329184"/>
          </a:xfrm>
          <a:prstGeom prst="rect">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287000" y="3182112"/>
            <a:ext cx="914400" cy="228600"/>
          </a:xfrm>
          <a:prstGeom prst="rect">
            <a:avLst/>
          </a:prstGeom>
          <a:noFill/>
        </p:spPr>
        <p:txBody>
          <a:bodyPr wrap="square">
            <a:spAutoFit/>
          </a:bodyPr>
          <a:lstStyle/>
          <a:p>
            <a:pPr algn="ctr"/>
            <a:r>
              <a:rPr sz="1000" b="1">
                <a:solidFill>
                  <a:srgbClr val="FFFFFF"/>
                </a:solidFill>
                <a:latin typeface="Aptos"/>
              </a:rPr>
              <a:t>Available</a:t>
            </a:r>
          </a:p>
        </p:txBody>
      </p:sp>
      <p:sp>
        <p:nvSpPr>
          <p:cNvPr id="42" name="Rectangle 41"/>
          <p:cNvSpPr/>
          <p:nvPr/>
        </p:nvSpPr>
        <p:spPr>
          <a:xfrm>
            <a:off x="10287000" y="3127248"/>
            <a:ext cx="914400" cy="329184"/>
          </a:xfrm>
          <a:prstGeom prst="rect">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400800" y="3493008"/>
            <a:ext cx="86868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28232" y="3584448"/>
            <a:ext cx="813815" cy="182880"/>
          </a:xfrm>
          <a:prstGeom prst="rect">
            <a:avLst/>
          </a:prstGeom>
          <a:noFill/>
        </p:spPr>
        <p:txBody>
          <a:bodyPr wrap="square">
            <a:spAutoFit/>
          </a:bodyPr>
          <a:lstStyle/>
          <a:p>
            <a:pPr algn="ctr"/>
            <a:r>
              <a:rPr sz="1000" b="0">
                <a:solidFill>
                  <a:srgbClr val="232D37"/>
                </a:solidFill>
                <a:latin typeface="Aptos"/>
              </a:rPr>
              <a:t>B-145</a:t>
            </a:r>
          </a:p>
        </p:txBody>
      </p:sp>
      <p:sp>
        <p:nvSpPr>
          <p:cNvPr id="45" name="Rectangle 44"/>
          <p:cNvSpPr/>
          <p:nvPr/>
        </p:nvSpPr>
        <p:spPr>
          <a:xfrm>
            <a:off x="7269480" y="3493008"/>
            <a:ext cx="164592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296912" y="3584448"/>
            <a:ext cx="1591056" cy="182880"/>
          </a:xfrm>
          <a:prstGeom prst="rect">
            <a:avLst/>
          </a:prstGeom>
          <a:noFill/>
        </p:spPr>
        <p:txBody>
          <a:bodyPr wrap="square">
            <a:spAutoFit/>
          </a:bodyPr>
          <a:lstStyle/>
          <a:p>
            <a:pPr algn="ctr"/>
            <a:r>
              <a:rPr sz="1000" b="0">
                <a:solidFill>
                  <a:srgbClr val="232D37"/>
                </a:solidFill>
                <a:latin typeface="Aptos"/>
              </a:rPr>
              <a:t>Database Systems</a:t>
            </a:r>
          </a:p>
        </p:txBody>
      </p:sp>
      <p:sp>
        <p:nvSpPr>
          <p:cNvPr id="47" name="Rectangle 46"/>
          <p:cNvSpPr/>
          <p:nvPr/>
        </p:nvSpPr>
        <p:spPr>
          <a:xfrm>
            <a:off x="8915400" y="3493008"/>
            <a:ext cx="118872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942832" y="3584448"/>
            <a:ext cx="1133856" cy="182880"/>
          </a:xfrm>
          <a:prstGeom prst="rect">
            <a:avLst/>
          </a:prstGeom>
          <a:noFill/>
        </p:spPr>
        <p:txBody>
          <a:bodyPr wrap="square">
            <a:spAutoFit/>
          </a:bodyPr>
          <a:lstStyle/>
          <a:p>
            <a:pPr algn="ctr"/>
            <a:r>
              <a:rPr sz="1000" b="0">
                <a:solidFill>
                  <a:srgbClr val="232D37"/>
                </a:solidFill>
                <a:latin typeface="Aptos"/>
              </a:rPr>
              <a:t>A-014</a:t>
            </a:r>
          </a:p>
        </p:txBody>
      </p:sp>
      <p:sp>
        <p:nvSpPr>
          <p:cNvPr id="49" name="Rectangle 48"/>
          <p:cNvSpPr/>
          <p:nvPr/>
        </p:nvSpPr>
        <p:spPr>
          <a:xfrm>
            <a:off x="10104120" y="3493008"/>
            <a:ext cx="91440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10131552" y="3584448"/>
            <a:ext cx="859536" cy="182880"/>
          </a:xfrm>
          <a:prstGeom prst="rect">
            <a:avLst/>
          </a:prstGeom>
          <a:noFill/>
        </p:spPr>
        <p:txBody>
          <a:bodyPr wrap="square">
            <a:spAutoFit/>
          </a:bodyPr>
          <a:lstStyle/>
          <a:p>
            <a:pPr algn="ctr"/>
            <a:r>
              <a:rPr sz="1000" b="0">
                <a:solidFill>
                  <a:srgbClr val="232D37"/>
                </a:solidFill>
                <a:latin typeface="Aptos"/>
              </a:rPr>
              <a:t>5</a:t>
            </a:r>
          </a:p>
        </p:txBody>
      </p:sp>
      <p:sp>
        <p:nvSpPr>
          <p:cNvPr id="51" name="Rectangle 50"/>
          <p:cNvSpPr/>
          <p:nvPr/>
        </p:nvSpPr>
        <p:spPr>
          <a:xfrm>
            <a:off x="6400800" y="3995928"/>
            <a:ext cx="86868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428232" y="4087368"/>
            <a:ext cx="813815" cy="182880"/>
          </a:xfrm>
          <a:prstGeom prst="rect">
            <a:avLst/>
          </a:prstGeom>
          <a:noFill/>
        </p:spPr>
        <p:txBody>
          <a:bodyPr wrap="square">
            <a:spAutoFit/>
          </a:bodyPr>
          <a:lstStyle/>
          <a:p>
            <a:pPr algn="ctr"/>
            <a:r>
              <a:rPr sz="1000" b="0">
                <a:solidFill>
                  <a:srgbClr val="232D37"/>
                </a:solidFill>
                <a:latin typeface="Aptos"/>
              </a:rPr>
              <a:t>B-087</a:t>
            </a:r>
          </a:p>
        </p:txBody>
      </p:sp>
      <p:sp>
        <p:nvSpPr>
          <p:cNvPr id="53" name="Rectangle 52"/>
          <p:cNvSpPr/>
          <p:nvPr/>
        </p:nvSpPr>
        <p:spPr>
          <a:xfrm>
            <a:off x="7269480" y="3995928"/>
            <a:ext cx="164592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296912" y="4087368"/>
            <a:ext cx="1591056" cy="182880"/>
          </a:xfrm>
          <a:prstGeom prst="rect">
            <a:avLst/>
          </a:prstGeom>
          <a:noFill/>
        </p:spPr>
        <p:txBody>
          <a:bodyPr wrap="square">
            <a:spAutoFit/>
          </a:bodyPr>
          <a:lstStyle/>
          <a:p>
            <a:pPr algn="ctr"/>
            <a:r>
              <a:rPr sz="1000" b="0">
                <a:solidFill>
                  <a:srgbClr val="232D37"/>
                </a:solidFill>
                <a:latin typeface="Aptos"/>
              </a:rPr>
              <a:t>Python Basics</a:t>
            </a:r>
          </a:p>
        </p:txBody>
      </p:sp>
      <p:sp>
        <p:nvSpPr>
          <p:cNvPr id="55" name="Rectangle 54"/>
          <p:cNvSpPr/>
          <p:nvPr/>
        </p:nvSpPr>
        <p:spPr>
          <a:xfrm>
            <a:off x="8915400" y="3995928"/>
            <a:ext cx="118872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942832" y="4087368"/>
            <a:ext cx="1133856" cy="182880"/>
          </a:xfrm>
          <a:prstGeom prst="rect">
            <a:avLst/>
          </a:prstGeom>
          <a:noFill/>
        </p:spPr>
        <p:txBody>
          <a:bodyPr wrap="square">
            <a:spAutoFit/>
          </a:bodyPr>
          <a:lstStyle/>
          <a:p>
            <a:pPr algn="ctr"/>
            <a:r>
              <a:rPr sz="1000" b="0">
                <a:solidFill>
                  <a:srgbClr val="232D37"/>
                </a:solidFill>
                <a:latin typeface="Aptos"/>
              </a:rPr>
              <a:t>A-009</a:t>
            </a:r>
          </a:p>
        </p:txBody>
      </p:sp>
      <p:sp>
        <p:nvSpPr>
          <p:cNvPr id="57" name="Rectangle 56"/>
          <p:cNvSpPr/>
          <p:nvPr/>
        </p:nvSpPr>
        <p:spPr>
          <a:xfrm>
            <a:off x="10104120" y="3995928"/>
            <a:ext cx="914400" cy="384048"/>
          </a:xfrm>
          <a:prstGeom prst="rect">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10131552" y="4087368"/>
            <a:ext cx="859536" cy="182880"/>
          </a:xfrm>
          <a:prstGeom prst="rect">
            <a:avLst/>
          </a:prstGeom>
          <a:noFill/>
        </p:spPr>
        <p:txBody>
          <a:bodyPr wrap="square">
            <a:spAutoFit/>
          </a:bodyPr>
          <a:lstStyle/>
          <a:p>
            <a:pPr algn="ctr"/>
            <a:r>
              <a:rPr sz="1000" b="0">
                <a:solidFill>
                  <a:srgbClr val="232D37"/>
                </a:solidFill>
                <a:latin typeface="Aptos"/>
              </a:rPr>
              <a:t>2</a:t>
            </a:r>
          </a:p>
        </p:txBody>
      </p:sp>
      <p:sp>
        <p:nvSpPr>
          <p:cNvPr id="59" name="TextBox 58"/>
          <p:cNvSpPr txBox="1"/>
          <p:nvPr/>
        </p:nvSpPr>
        <p:spPr>
          <a:xfrm>
            <a:off x="530352" y="6510528"/>
            <a:ext cx="11064240" cy="201168"/>
          </a:xfrm>
          <a:prstGeom prst="rect">
            <a:avLst/>
          </a:prstGeom>
          <a:noFill/>
        </p:spPr>
        <p:txBody>
          <a:bodyPr wrap="square">
            <a:spAutoFit/>
          </a:bodyPr>
          <a:lstStyle/>
          <a:p>
            <a:pPr algn="r"/>
            <a:r>
              <a:rPr sz="900" b="0">
                <a:solidFill>
                  <a:srgbClr val="69737D"/>
                </a:solidFill>
                <a:latin typeface="Aptos"/>
              </a:rPr>
              <a:t>Book records support quick search and organized storage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961120" cy="384048"/>
          </a:xfrm>
          <a:prstGeom prst="rect">
            <a:avLst/>
          </a:prstGeom>
          <a:noFill/>
        </p:spPr>
        <p:txBody>
          <a:bodyPr wrap="square">
            <a:spAutoFit/>
          </a:bodyPr>
          <a:lstStyle/>
          <a:p>
            <a:pPr algn="l"/>
            <a:r>
              <a:rPr sz="2400" b="1">
                <a:solidFill>
                  <a:srgbClr val="FFFFFF"/>
                </a:solidFill>
                <a:latin typeface="Aptos"/>
              </a:rPr>
              <a:t>Issue Book — Transaction Output</a:t>
            </a:r>
          </a:p>
        </p:txBody>
      </p:sp>
      <p:sp>
        <p:nvSpPr>
          <p:cNvPr id="4" name="TextBox 3"/>
          <p:cNvSpPr txBox="1"/>
          <p:nvPr/>
        </p:nvSpPr>
        <p:spPr>
          <a:xfrm>
            <a:off x="11064240" y="118872"/>
            <a:ext cx="594360" cy="320040"/>
          </a:xfrm>
          <a:prstGeom prst="rect">
            <a:avLst/>
          </a:prstGeom>
          <a:noFill/>
        </p:spPr>
        <p:txBody>
          <a:bodyPr wrap="square">
            <a:spAutoFit/>
          </a:bodyPr>
          <a:lstStyle/>
          <a:p>
            <a:pPr algn="r"/>
            <a:r>
              <a:rPr sz="1800" b="1">
                <a:solidFill>
                  <a:srgbClr val="FFFFFF"/>
                </a:solidFill>
                <a:latin typeface="Aptos"/>
              </a:rPr>
              <a:t>05</a:t>
            </a:r>
          </a:p>
        </p:txBody>
      </p:sp>
      <p:sp>
        <p:nvSpPr>
          <p:cNvPr id="5" name="TextBox 4"/>
          <p:cNvSpPr txBox="1"/>
          <p:nvPr/>
        </p:nvSpPr>
        <p:spPr>
          <a:xfrm>
            <a:off x="3337560" y="848965"/>
            <a:ext cx="7772400" cy="274320"/>
          </a:xfrm>
          <a:prstGeom prst="rect">
            <a:avLst/>
          </a:prstGeom>
          <a:noFill/>
        </p:spPr>
        <p:txBody>
          <a:bodyPr wrap="square">
            <a:spAutoFit/>
          </a:bodyPr>
          <a:lstStyle/>
          <a:p>
            <a:pPr algn="l"/>
            <a:r>
              <a:rPr sz="1000" b="0" dirty="0">
                <a:solidFill>
                  <a:srgbClr val="69737D"/>
                </a:solidFill>
                <a:latin typeface="Aptos"/>
              </a:rPr>
              <a:t>Library Management System • Sample Output</a:t>
            </a:r>
          </a:p>
        </p:txBody>
      </p:sp>
      <p:sp>
        <p:nvSpPr>
          <p:cNvPr id="6" name="Rounded Rectangle 5"/>
          <p:cNvSpPr/>
          <p:nvPr/>
        </p:nvSpPr>
        <p:spPr>
          <a:xfrm>
            <a:off x="685800" y="658368"/>
            <a:ext cx="5349240" cy="5285232"/>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536192"/>
            <a:ext cx="4389120" cy="365760"/>
          </a:xfrm>
          <a:prstGeom prst="rect">
            <a:avLst/>
          </a:prstGeom>
          <a:noFill/>
        </p:spPr>
        <p:txBody>
          <a:bodyPr wrap="square">
            <a:spAutoFit/>
          </a:bodyPr>
          <a:lstStyle/>
          <a:p>
            <a:pPr algn="l"/>
            <a:r>
              <a:rPr sz="2200" b="1">
                <a:solidFill>
                  <a:srgbClr val="112B49"/>
                </a:solidFill>
                <a:latin typeface="Aptos"/>
              </a:rPr>
              <a:t>Issue Book</a:t>
            </a:r>
          </a:p>
        </p:txBody>
      </p:sp>
      <p:sp>
        <p:nvSpPr>
          <p:cNvPr id="8" name="TextBox 7"/>
          <p:cNvSpPr txBox="1"/>
          <p:nvPr/>
        </p:nvSpPr>
        <p:spPr>
          <a:xfrm>
            <a:off x="960120" y="2057400"/>
            <a:ext cx="2057400" cy="201168"/>
          </a:xfrm>
          <a:prstGeom prst="rect">
            <a:avLst/>
          </a:prstGeom>
          <a:noFill/>
        </p:spPr>
        <p:txBody>
          <a:bodyPr wrap="square">
            <a:spAutoFit/>
          </a:bodyPr>
          <a:lstStyle/>
          <a:p>
            <a:pPr algn="l"/>
            <a:r>
              <a:rPr sz="1000" b="1">
                <a:solidFill>
                  <a:srgbClr val="69737D"/>
                </a:solidFill>
                <a:latin typeface="Aptos"/>
              </a:rPr>
              <a:t>ISSUE ID</a:t>
            </a:r>
          </a:p>
        </p:txBody>
      </p:sp>
      <p:sp>
        <p:nvSpPr>
          <p:cNvPr id="9" name="Rounded Rectangle 8"/>
          <p:cNvSpPr/>
          <p:nvPr/>
        </p:nvSpPr>
        <p:spPr>
          <a:xfrm>
            <a:off x="960120" y="2286000"/>
            <a:ext cx="205740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88136" y="2368296"/>
            <a:ext cx="1801368" cy="228600"/>
          </a:xfrm>
          <a:prstGeom prst="rect">
            <a:avLst/>
          </a:prstGeom>
          <a:noFill/>
        </p:spPr>
        <p:txBody>
          <a:bodyPr wrap="square">
            <a:spAutoFit/>
          </a:bodyPr>
          <a:lstStyle/>
          <a:p>
            <a:pPr algn="l"/>
            <a:r>
              <a:rPr sz="1200" b="0">
                <a:solidFill>
                  <a:srgbClr val="232D37"/>
                </a:solidFill>
                <a:latin typeface="Aptos"/>
              </a:rPr>
              <a:t>I-2026-036</a:t>
            </a:r>
          </a:p>
        </p:txBody>
      </p:sp>
      <p:sp>
        <p:nvSpPr>
          <p:cNvPr id="11" name="TextBox 10"/>
          <p:cNvSpPr txBox="1"/>
          <p:nvPr/>
        </p:nvSpPr>
        <p:spPr>
          <a:xfrm>
            <a:off x="3246120" y="2057400"/>
            <a:ext cx="2057400" cy="201168"/>
          </a:xfrm>
          <a:prstGeom prst="rect">
            <a:avLst/>
          </a:prstGeom>
          <a:noFill/>
        </p:spPr>
        <p:txBody>
          <a:bodyPr wrap="square">
            <a:spAutoFit/>
          </a:bodyPr>
          <a:lstStyle/>
          <a:p>
            <a:pPr algn="l"/>
            <a:r>
              <a:rPr sz="1000" b="1">
                <a:solidFill>
                  <a:srgbClr val="69737D"/>
                </a:solidFill>
                <a:latin typeface="Aptos"/>
              </a:rPr>
              <a:t>STUDENT ID</a:t>
            </a:r>
          </a:p>
        </p:txBody>
      </p:sp>
      <p:sp>
        <p:nvSpPr>
          <p:cNvPr id="12" name="Rounded Rectangle 11"/>
          <p:cNvSpPr/>
          <p:nvPr/>
        </p:nvSpPr>
        <p:spPr>
          <a:xfrm>
            <a:off x="3246120" y="2286000"/>
            <a:ext cx="205740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374136" y="2368296"/>
            <a:ext cx="1801368" cy="228600"/>
          </a:xfrm>
          <a:prstGeom prst="rect">
            <a:avLst/>
          </a:prstGeom>
          <a:noFill/>
        </p:spPr>
        <p:txBody>
          <a:bodyPr wrap="square">
            <a:spAutoFit/>
          </a:bodyPr>
          <a:lstStyle/>
          <a:p>
            <a:pPr algn="l"/>
            <a:r>
              <a:rPr sz="1200" b="0">
                <a:solidFill>
                  <a:srgbClr val="232D37"/>
                </a:solidFill>
                <a:latin typeface="Aptos"/>
              </a:rPr>
              <a:t>S-018</a:t>
            </a:r>
          </a:p>
        </p:txBody>
      </p:sp>
      <p:sp>
        <p:nvSpPr>
          <p:cNvPr id="14" name="TextBox 13"/>
          <p:cNvSpPr txBox="1"/>
          <p:nvPr/>
        </p:nvSpPr>
        <p:spPr>
          <a:xfrm>
            <a:off x="960120" y="2880360"/>
            <a:ext cx="2057400" cy="201168"/>
          </a:xfrm>
          <a:prstGeom prst="rect">
            <a:avLst/>
          </a:prstGeom>
          <a:noFill/>
        </p:spPr>
        <p:txBody>
          <a:bodyPr wrap="square">
            <a:spAutoFit/>
          </a:bodyPr>
          <a:lstStyle/>
          <a:p>
            <a:pPr algn="l"/>
            <a:r>
              <a:rPr sz="1000" b="1">
                <a:solidFill>
                  <a:srgbClr val="69737D"/>
                </a:solidFill>
                <a:latin typeface="Aptos"/>
              </a:rPr>
              <a:t>BOOK ID</a:t>
            </a:r>
          </a:p>
        </p:txBody>
      </p:sp>
      <p:sp>
        <p:nvSpPr>
          <p:cNvPr id="15" name="Rounded Rectangle 14"/>
          <p:cNvSpPr/>
          <p:nvPr/>
        </p:nvSpPr>
        <p:spPr>
          <a:xfrm>
            <a:off x="960120" y="3108960"/>
            <a:ext cx="205740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88136" y="3191256"/>
            <a:ext cx="1801368" cy="228600"/>
          </a:xfrm>
          <a:prstGeom prst="rect">
            <a:avLst/>
          </a:prstGeom>
          <a:noFill/>
        </p:spPr>
        <p:txBody>
          <a:bodyPr wrap="square">
            <a:spAutoFit/>
          </a:bodyPr>
          <a:lstStyle/>
          <a:p>
            <a:pPr algn="l"/>
            <a:r>
              <a:rPr sz="1200" b="0">
                <a:solidFill>
                  <a:srgbClr val="232D37"/>
                </a:solidFill>
                <a:latin typeface="Aptos"/>
              </a:rPr>
              <a:t>B-145</a:t>
            </a:r>
          </a:p>
        </p:txBody>
      </p:sp>
      <p:sp>
        <p:nvSpPr>
          <p:cNvPr id="17" name="TextBox 16"/>
          <p:cNvSpPr txBox="1"/>
          <p:nvPr/>
        </p:nvSpPr>
        <p:spPr>
          <a:xfrm>
            <a:off x="3246120" y="2880360"/>
            <a:ext cx="2057400" cy="201168"/>
          </a:xfrm>
          <a:prstGeom prst="rect">
            <a:avLst/>
          </a:prstGeom>
          <a:noFill/>
        </p:spPr>
        <p:txBody>
          <a:bodyPr wrap="square">
            <a:spAutoFit/>
          </a:bodyPr>
          <a:lstStyle/>
          <a:p>
            <a:pPr algn="l"/>
            <a:r>
              <a:rPr sz="1000" b="1">
                <a:solidFill>
                  <a:srgbClr val="69737D"/>
                </a:solidFill>
                <a:latin typeface="Aptos"/>
              </a:rPr>
              <a:t>ISSUE DATE</a:t>
            </a:r>
          </a:p>
        </p:txBody>
      </p:sp>
      <p:sp>
        <p:nvSpPr>
          <p:cNvPr id="18" name="Rounded Rectangle 17"/>
          <p:cNvSpPr/>
          <p:nvPr/>
        </p:nvSpPr>
        <p:spPr>
          <a:xfrm>
            <a:off x="3246120" y="3108960"/>
            <a:ext cx="205740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374136" y="3191256"/>
            <a:ext cx="1801368" cy="228600"/>
          </a:xfrm>
          <a:prstGeom prst="rect">
            <a:avLst/>
          </a:prstGeom>
          <a:noFill/>
        </p:spPr>
        <p:txBody>
          <a:bodyPr wrap="square">
            <a:spAutoFit/>
          </a:bodyPr>
          <a:lstStyle/>
          <a:p>
            <a:pPr algn="l"/>
            <a:r>
              <a:rPr sz="1200" b="0">
                <a:solidFill>
                  <a:srgbClr val="232D37"/>
                </a:solidFill>
                <a:latin typeface="Aptos"/>
              </a:rPr>
              <a:t>28-09-2026</a:t>
            </a:r>
          </a:p>
        </p:txBody>
      </p:sp>
      <p:sp>
        <p:nvSpPr>
          <p:cNvPr id="20" name="TextBox 19"/>
          <p:cNvSpPr txBox="1"/>
          <p:nvPr/>
        </p:nvSpPr>
        <p:spPr>
          <a:xfrm>
            <a:off x="960120" y="3703320"/>
            <a:ext cx="2057400" cy="201168"/>
          </a:xfrm>
          <a:prstGeom prst="rect">
            <a:avLst/>
          </a:prstGeom>
          <a:noFill/>
        </p:spPr>
        <p:txBody>
          <a:bodyPr wrap="square">
            <a:spAutoFit/>
          </a:bodyPr>
          <a:lstStyle/>
          <a:p>
            <a:pPr algn="l"/>
            <a:r>
              <a:rPr sz="1000" b="1">
                <a:solidFill>
                  <a:srgbClr val="69737D"/>
                </a:solidFill>
                <a:latin typeface="Aptos"/>
              </a:rPr>
              <a:t>DUE DATE</a:t>
            </a:r>
          </a:p>
        </p:txBody>
      </p:sp>
      <p:sp>
        <p:nvSpPr>
          <p:cNvPr id="21" name="Rounded Rectangle 20"/>
          <p:cNvSpPr/>
          <p:nvPr/>
        </p:nvSpPr>
        <p:spPr>
          <a:xfrm>
            <a:off x="960120" y="3931920"/>
            <a:ext cx="205740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88136" y="4014215"/>
            <a:ext cx="1801368" cy="228600"/>
          </a:xfrm>
          <a:prstGeom prst="rect">
            <a:avLst/>
          </a:prstGeom>
          <a:noFill/>
        </p:spPr>
        <p:txBody>
          <a:bodyPr wrap="square">
            <a:spAutoFit/>
          </a:bodyPr>
          <a:lstStyle/>
          <a:p>
            <a:pPr algn="l"/>
            <a:r>
              <a:rPr sz="1200" b="0">
                <a:solidFill>
                  <a:srgbClr val="232D37"/>
                </a:solidFill>
                <a:latin typeface="Aptos"/>
              </a:rPr>
              <a:t>05-10-2026</a:t>
            </a:r>
          </a:p>
        </p:txBody>
      </p:sp>
      <p:sp>
        <p:nvSpPr>
          <p:cNvPr id="23" name="TextBox 22"/>
          <p:cNvSpPr txBox="1"/>
          <p:nvPr/>
        </p:nvSpPr>
        <p:spPr>
          <a:xfrm>
            <a:off x="3246120" y="3703320"/>
            <a:ext cx="2057400" cy="201168"/>
          </a:xfrm>
          <a:prstGeom prst="rect">
            <a:avLst/>
          </a:prstGeom>
          <a:noFill/>
        </p:spPr>
        <p:txBody>
          <a:bodyPr wrap="square">
            <a:spAutoFit/>
          </a:bodyPr>
          <a:lstStyle/>
          <a:p>
            <a:pPr algn="l"/>
            <a:r>
              <a:rPr sz="1000" b="1">
                <a:solidFill>
                  <a:srgbClr val="69737D"/>
                </a:solidFill>
                <a:latin typeface="Aptos"/>
              </a:rPr>
              <a:t>LIBRARIAN ID</a:t>
            </a:r>
          </a:p>
        </p:txBody>
      </p:sp>
      <p:sp>
        <p:nvSpPr>
          <p:cNvPr id="24" name="Rounded Rectangle 23"/>
          <p:cNvSpPr/>
          <p:nvPr/>
        </p:nvSpPr>
        <p:spPr>
          <a:xfrm>
            <a:off x="3246120" y="3931920"/>
            <a:ext cx="2057400" cy="411480"/>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374136" y="4014215"/>
            <a:ext cx="1801368" cy="228600"/>
          </a:xfrm>
          <a:prstGeom prst="rect">
            <a:avLst/>
          </a:prstGeom>
          <a:noFill/>
        </p:spPr>
        <p:txBody>
          <a:bodyPr wrap="square">
            <a:spAutoFit/>
          </a:bodyPr>
          <a:lstStyle/>
          <a:p>
            <a:pPr algn="l"/>
            <a:r>
              <a:rPr sz="1200" b="0">
                <a:solidFill>
                  <a:srgbClr val="232D37"/>
                </a:solidFill>
                <a:latin typeface="Aptos"/>
              </a:rPr>
              <a:t>L-01</a:t>
            </a:r>
          </a:p>
        </p:txBody>
      </p:sp>
      <p:sp>
        <p:nvSpPr>
          <p:cNvPr id="26" name="Rounded Rectangle 25"/>
          <p:cNvSpPr/>
          <p:nvPr/>
        </p:nvSpPr>
        <p:spPr>
          <a:xfrm>
            <a:off x="960120" y="4617720"/>
            <a:ext cx="4343400" cy="438912"/>
          </a:xfrm>
          <a:prstGeom prst="roundRect">
            <a:avLst>
              <a:gd name="adj" fmla="val 8000"/>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4700016"/>
            <a:ext cx="4343400" cy="228600"/>
          </a:xfrm>
          <a:prstGeom prst="rect">
            <a:avLst/>
          </a:prstGeom>
          <a:noFill/>
        </p:spPr>
        <p:txBody>
          <a:bodyPr wrap="square">
            <a:spAutoFit/>
          </a:bodyPr>
          <a:lstStyle/>
          <a:p>
            <a:pPr algn="ctr"/>
            <a:r>
              <a:rPr sz="1200" b="1">
                <a:solidFill>
                  <a:srgbClr val="FFFFFF"/>
                </a:solidFill>
                <a:latin typeface="Aptos"/>
              </a:rPr>
              <a:t>CONFIRM ISSUE</a:t>
            </a:r>
          </a:p>
        </p:txBody>
      </p:sp>
      <p:sp>
        <p:nvSpPr>
          <p:cNvPr id="28" name="Rounded Rectangle 27"/>
          <p:cNvSpPr/>
          <p:nvPr/>
        </p:nvSpPr>
        <p:spPr>
          <a:xfrm>
            <a:off x="6035040" y="658368"/>
            <a:ext cx="5486400" cy="5285232"/>
          </a:xfrm>
          <a:prstGeom prst="roundRect">
            <a:avLst>
              <a:gd name="adj" fmla="val 8000"/>
            </a:avLst>
          </a:prstGeom>
          <a:solidFill>
            <a:srgbClr val="F2FAF6"/>
          </a:solidFill>
          <a:ln>
            <a:solidFill>
              <a:srgbClr val="C0E2C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583680" y="1737360"/>
            <a:ext cx="4526280" cy="411480"/>
          </a:xfrm>
          <a:prstGeom prst="rect">
            <a:avLst/>
          </a:prstGeom>
          <a:noFill/>
        </p:spPr>
        <p:txBody>
          <a:bodyPr wrap="square">
            <a:spAutoFit/>
          </a:bodyPr>
          <a:lstStyle/>
          <a:p>
            <a:pPr algn="ctr"/>
            <a:r>
              <a:rPr sz="2300" b="1" dirty="0">
                <a:solidFill>
                  <a:srgbClr val="2A8459"/>
                </a:solidFill>
                <a:latin typeface="Aptos"/>
              </a:rPr>
              <a:t>Transaction Successful</a:t>
            </a:r>
          </a:p>
        </p:txBody>
      </p:sp>
      <p:sp>
        <p:nvSpPr>
          <p:cNvPr id="30" name="TextBox 29"/>
          <p:cNvSpPr txBox="1"/>
          <p:nvPr/>
        </p:nvSpPr>
        <p:spPr>
          <a:xfrm>
            <a:off x="7269480" y="2423160"/>
            <a:ext cx="3108960" cy="640080"/>
          </a:xfrm>
          <a:prstGeom prst="rect">
            <a:avLst/>
          </a:prstGeom>
          <a:noFill/>
        </p:spPr>
        <p:txBody>
          <a:bodyPr wrap="square">
            <a:spAutoFit/>
          </a:bodyPr>
          <a:lstStyle/>
          <a:p>
            <a:pPr algn="ctr"/>
            <a:r>
              <a:rPr sz="4200" b="1">
                <a:solidFill>
                  <a:srgbClr val="2A8459"/>
                </a:solidFill>
                <a:latin typeface="Aptos"/>
              </a:rPr>
              <a:t>✓</a:t>
            </a:r>
          </a:p>
        </p:txBody>
      </p:sp>
      <p:sp>
        <p:nvSpPr>
          <p:cNvPr id="31" name="TextBox 30"/>
          <p:cNvSpPr txBox="1"/>
          <p:nvPr/>
        </p:nvSpPr>
        <p:spPr>
          <a:xfrm>
            <a:off x="6720840" y="3246120"/>
            <a:ext cx="1234440" cy="228600"/>
          </a:xfrm>
          <a:prstGeom prst="rect">
            <a:avLst/>
          </a:prstGeom>
          <a:noFill/>
        </p:spPr>
        <p:txBody>
          <a:bodyPr wrap="square">
            <a:spAutoFit/>
          </a:bodyPr>
          <a:lstStyle/>
          <a:p>
            <a:pPr algn="l"/>
            <a:r>
              <a:rPr sz="1100" b="1">
                <a:solidFill>
                  <a:srgbClr val="69737D"/>
                </a:solidFill>
                <a:latin typeface="Aptos"/>
              </a:rPr>
              <a:t>Issue ID</a:t>
            </a:r>
          </a:p>
        </p:txBody>
      </p:sp>
      <p:sp>
        <p:nvSpPr>
          <p:cNvPr id="32" name="TextBox 31"/>
          <p:cNvSpPr txBox="1"/>
          <p:nvPr/>
        </p:nvSpPr>
        <p:spPr>
          <a:xfrm>
            <a:off x="8092440" y="3246120"/>
            <a:ext cx="2423160" cy="228600"/>
          </a:xfrm>
          <a:prstGeom prst="rect">
            <a:avLst/>
          </a:prstGeom>
          <a:noFill/>
        </p:spPr>
        <p:txBody>
          <a:bodyPr wrap="square">
            <a:spAutoFit/>
          </a:bodyPr>
          <a:lstStyle/>
          <a:p>
            <a:pPr algn="l"/>
            <a:r>
              <a:rPr sz="1100" b="1">
                <a:solidFill>
                  <a:srgbClr val="232D37"/>
                </a:solidFill>
                <a:latin typeface="Aptos"/>
              </a:rPr>
              <a:t>I-2026-036</a:t>
            </a:r>
          </a:p>
        </p:txBody>
      </p:sp>
      <p:sp>
        <p:nvSpPr>
          <p:cNvPr id="33" name="TextBox 32"/>
          <p:cNvSpPr txBox="1"/>
          <p:nvPr/>
        </p:nvSpPr>
        <p:spPr>
          <a:xfrm>
            <a:off x="6720840" y="3749039"/>
            <a:ext cx="1234440" cy="228600"/>
          </a:xfrm>
          <a:prstGeom prst="rect">
            <a:avLst/>
          </a:prstGeom>
          <a:noFill/>
        </p:spPr>
        <p:txBody>
          <a:bodyPr wrap="square">
            <a:spAutoFit/>
          </a:bodyPr>
          <a:lstStyle/>
          <a:p>
            <a:pPr algn="l"/>
            <a:r>
              <a:rPr sz="1100" b="1">
                <a:solidFill>
                  <a:srgbClr val="69737D"/>
                </a:solidFill>
                <a:latin typeface="Aptos"/>
              </a:rPr>
              <a:t>Student</a:t>
            </a:r>
          </a:p>
        </p:txBody>
      </p:sp>
      <p:sp>
        <p:nvSpPr>
          <p:cNvPr id="34" name="TextBox 33"/>
          <p:cNvSpPr txBox="1"/>
          <p:nvPr/>
        </p:nvSpPr>
        <p:spPr>
          <a:xfrm>
            <a:off x="8092440" y="3749039"/>
            <a:ext cx="2423160" cy="228600"/>
          </a:xfrm>
          <a:prstGeom prst="rect">
            <a:avLst/>
          </a:prstGeom>
          <a:noFill/>
        </p:spPr>
        <p:txBody>
          <a:bodyPr wrap="square">
            <a:spAutoFit/>
          </a:bodyPr>
          <a:lstStyle/>
          <a:p>
            <a:pPr algn="l"/>
            <a:r>
              <a:rPr sz="1100" b="1">
                <a:solidFill>
                  <a:srgbClr val="232D37"/>
                </a:solidFill>
                <a:latin typeface="Aptos"/>
              </a:rPr>
              <a:t>S-018</a:t>
            </a:r>
          </a:p>
        </p:txBody>
      </p:sp>
      <p:sp>
        <p:nvSpPr>
          <p:cNvPr id="35" name="TextBox 34"/>
          <p:cNvSpPr txBox="1"/>
          <p:nvPr/>
        </p:nvSpPr>
        <p:spPr>
          <a:xfrm>
            <a:off x="6720840" y="4251960"/>
            <a:ext cx="1234440" cy="228600"/>
          </a:xfrm>
          <a:prstGeom prst="rect">
            <a:avLst/>
          </a:prstGeom>
          <a:noFill/>
        </p:spPr>
        <p:txBody>
          <a:bodyPr wrap="square">
            <a:spAutoFit/>
          </a:bodyPr>
          <a:lstStyle/>
          <a:p>
            <a:pPr algn="l"/>
            <a:r>
              <a:rPr sz="1100" b="1">
                <a:solidFill>
                  <a:srgbClr val="69737D"/>
                </a:solidFill>
                <a:latin typeface="Aptos"/>
              </a:rPr>
              <a:t>Book</a:t>
            </a:r>
          </a:p>
        </p:txBody>
      </p:sp>
      <p:sp>
        <p:nvSpPr>
          <p:cNvPr id="36" name="TextBox 35"/>
          <p:cNvSpPr txBox="1"/>
          <p:nvPr/>
        </p:nvSpPr>
        <p:spPr>
          <a:xfrm>
            <a:off x="8092440" y="4251960"/>
            <a:ext cx="2423160" cy="228600"/>
          </a:xfrm>
          <a:prstGeom prst="rect">
            <a:avLst/>
          </a:prstGeom>
          <a:noFill/>
        </p:spPr>
        <p:txBody>
          <a:bodyPr wrap="square">
            <a:spAutoFit/>
          </a:bodyPr>
          <a:lstStyle/>
          <a:p>
            <a:pPr algn="l"/>
            <a:r>
              <a:rPr sz="1100" b="1">
                <a:solidFill>
                  <a:srgbClr val="232D37"/>
                </a:solidFill>
                <a:latin typeface="Aptos"/>
              </a:rPr>
              <a:t>B-145</a:t>
            </a:r>
          </a:p>
        </p:txBody>
      </p:sp>
      <p:sp>
        <p:nvSpPr>
          <p:cNvPr id="37" name="TextBox 36"/>
          <p:cNvSpPr txBox="1"/>
          <p:nvPr/>
        </p:nvSpPr>
        <p:spPr>
          <a:xfrm>
            <a:off x="6720840" y="4754880"/>
            <a:ext cx="1234440" cy="228600"/>
          </a:xfrm>
          <a:prstGeom prst="rect">
            <a:avLst/>
          </a:prstGeom>
          <a:noFill/>
        </p:spPr>
        <p:txBody>
          <a:bodyPr wrap="square">
            <a:spAutoFit/>
          </a:bodyPr>
          <a:lstStyle/>
          <a:p>
            <a:pPr algn="l"/>
            <a:r>
              <a:rPr sz="1100" b="1">
                <a:solidFill>
                  <a:srgbClr val="69737D"/>
                </a:solidFill>
                <a:latin typeface="Aptos"/>
              </a:rPr>
              <a:t>Status</a:t>
            </a:r>
          </a:p>
        </p:txBody>
      </p:sp>
      <p:sp>
        <p:nvSpPr>
          <p:cNvPr id="38" name="TextBox 37"/>
          <p:cNvSpPr txBox="1"/>
          <p:nvPr/>
        </p:nvSpPr>
        <p:spPr>
          <a:xfrm>
            <a:off x="8092440" y="4754880"/>
            <a:ext cx="2423160" cy="228600"/>
          </a:xfrm>
          <a:prstGeom prst="rect">
            <a:avLst/>
          </a:prstGeom>
          <a:noFill/>
        </p:spPr>
        <p:txBody>
          <a:bodyPr wrap="square">
            <a:spAutoFit/>
          </a:bodyPr>
          <a:lstStyle/>
          <a:p>
            <a:pPr algn="l"/>
            <a:r>
              <a:rPr sz="1100" b="1">
                <a:solidFill>
                  <a:srgbClr val="232D37"/>
                </a:solidFill>
                <a:latin typeface="Aptos"/>
              </a:rPr>
              <a:t>Issued</a:t>
            </a:r>
          </a:p>
        </p:txBody>
      </p:sp>
      <p:sp>
        <p:nvSpPr>
          <p:cNvPr id="39" name="TextBox 38"/>
          <p:cNvSpPr txBox="1"/>
          <p:nvPr/>
        </p:nvSpPr>
        <p:spPr>
          <a:xfrm>
            <a:off x="530352" y="6510528"/>
            <a:ext cx="11064240" cy="201168"/>
          </a:xfrm>
          <a:prstGeom prst="rect">
            <a:avLst/>
          </a:prstGeom>
          <a:noFill/>
        </p:spPr>
        <p:txBody>
          <a:bodyPr wrap="square">
            <a:spAutoFit/>
          </a:bodyPr>
          <a:lstStyle/>
          <a:p>
            <a:pPr algn="r"/>
            <a:r>
              <a:rPr sz="900" b="0">
                <a:solidFill>
                  <a:srgbClr val="69737D"/>
                </a:solidFill>
                <a:latin typeface="Aptos"/>
              </a:rPr>
              <a:t>Issue table links Book, Student and Librarian records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8961120" cy="384048"/>
          </a:xfrm>
          <a:prstGeom prst="rect">
            <a:avLst/>
          </a:prstGeom>
          <a:noFill/>
        </p:spPr>
        <p:txBody>
          <a:bodyPr wrap="square">
            <a:spAutoFit/>
          </a:bodyPr>
          <a:lstStyle/>
          <a:p>
            <a:pPr algn="l"/>
            <a:r>
              <a:rPr sz="2400" b="1">
                <a:solidFill>
                  <a:srgbClr val="FFFFFF"/>
                </a:solidFill>
                <a:latin typeface="Aptos"/>
              </a:rPr>
              <a:t>Complete Working Flow &amp; Output</a:t>
            </a:r>
          </a:p>
        </p:txBody>
      </p:sp>
      <p:sp>
        <p:nvSpPr>
          <p:cNvPr id="4" name="TextBox 3"/>
          <p:cNvSpPr txBox="1"/>
          <p:nvPr/>
        </p:nvSpPr>
        <p:spPr>
          <a:xfrm>
            <a:off x="11064240" y="118872"/>
            <a:ext cx="594360" cy="320040"/>
          </a:xfrm>
          <a:prstGeom prst="rect">
            <a:avLst/>
          </a:prstGeom>
          <a:noFill/>
        </p:spPr>
        <p:txBody>
          <a:bodyPr wrap="square">
            <a:spAutoFit/>
          </a:bodyPr>
          <a:lstStyle/>
          <a:p>
            <a:pPr algn="r"/>
            <a:r>
              <a:rPr sz="1800" b="1">
                <a:solidFill>
                  <a:srgbClr val="FFFFFF"/>
                </a:solidFill>
                <a:latin typeface="Aptos"/>
              </a:rPr>
              <a:t>07</a:t>
            </a:r>
          </a:p>
        </p:txBody>
      </p:sp>
      <p:sp>
        <p:nvSpPr>
          <p:cNvPr id="5" name="TextBox 4"/>
          <p:cNvSpPr txBox="1"/>
          <p:nvPr/>
        </p:nvSpPr>
        <p:spPr>
          <a:xfrm>
            <a:off x="3922776" y="868680"/>
            <a:ext cx="7772400" cy="274320"/>
          </a:xfrm>
          <a:prstGeom prst="rect">
            <a:avLst/>
          </a:prstGeom>
          <a:noFill/>
        </p:spPr>
        <p:txBody>
          <a:bodyPr wrap="square">
            <a:spAutoFit/>
          </a:bodyPr>
          <a:lstStyle/>
          <a:p>
            <a:pPr algn="l"/>
            <a:r>
              <a:rPr sz="1000" b="0" dirty="0">
                <a:solidFill>
                  <a:srgbClr val="69737D"/>
                </a:solidFill>
                <a:latin typeface="Aptos"/>
              </a:rPr>
              <a:t>Library Management System • Sample Output</a:t>
            </a:r>
          </a:p>
        </p:txBody>
      </p:sp>
      <p:sp>
        <p:nvSpPr>
          <p:cNvPr id="6" name="Rounded Rectangle 5"/>
          <p:cNvSpPr/>
          <p:nvPr/>
        </p:nvSpPr>
        <p:spPr>
          <a:xfrm>
            <a:off x="640080" y="658368"/>
            <a:ext cx="10927080" cy="5102352"/>
          </a:xfrm>
          <a:prstGeom prst="roundRect">
            <a:avLst>
              <a:gd name="adj" fmla="val 8000"/>
            </a:avLst>
          </a:prstGeom>
          <a:solidFill>
            <a:srgbClr val="FFFFFF"/>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14400" y="1828800"/>
            <a:ext cx="1325880" cy="1234440"/>
          </a:xfrm>
          <a:prstGeom prst="roundRect">
            <a:avLst>
              <a:gd name="adj" fmla="val 8000"/>
            </a:avLst>
          </a:prstGeom>
          <a:solidFill>
            <a:srgbClr val="F4F8FC"/>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371600" y="1627632"/>
            <a:ext cx="411480" cy="411480"/>
          </a:xfrm>
          <a:prstGeom prst="roundRect">
            <a:avLst>
              <a:gd name="adj" fmla="val 8000"/>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371600" y="1700784"/>
            <a:ext cx="411480" cy="182880"/>
          </a:xfrm>
          <a:prstGeom prst="rect">
            <a:avLst/>
          </a:prstGeom>
          <a:noFill/>
        </p:spPr>
        <p:txBody>
          <a:bodyPr wrap="square">
            <a:spAutoFit/>
          </a:bodyPr>
          <a:lstStyle/>
          <a:p>
            <a:pPr algn="ctr"/>
            <a:r>
              <a:rPr sz="1000" b="1">
                <a:solidFill>
                  <a:srgbClr val="FFFFFF"/>
                </a:solidFill>
                <a:latin typeface="Aptos"/>
              </a:rPr>
              <a:t>1</a:t>
            </a:r>
          </a:p>
        </p:txBody>
      </p:sp>
      <p:sp>
        <p:nvSpPr>
          <p:cNvPr id="10" name="TextBox 9"/>
          <p:cNvSpPr txBox="1"/>
          <p:nvPr/>
        </p:nvSpPr>
        <p:spPr>
          <a:xfrm>
            <a:off x="987552" y="2084831"/>
            <a:ext cx="1179576" cy="502920"/>
          </a:xfrm>
          <a:prstGeom prst="rect">
            <a:avLst/>
          </a:prstGeom>
          <a:noFill/>
        </p:spPr>
        <p:txBody>
          <a:bodyPr wrap="square">
            <a:spAutoFit/>
          </a:bodyPr>
          <a:lstStyle/>
          <a:p>
            <a:pPr algn="ctr"/>
            <a:r>
              <a:rPr sz="1100" b="1">
                <a:solidFill>
                  <a:srgbClr val="112B49"/>
                </a:solidFill>
                <a:latin typeface="Aptos"/>
              </a:rPr>
              <a:t>LOGIN</a:t>
            </a:r>
          </a:p>
        </p:txBody>
      </p:sp>
      <p:sp>
        <p:nvSpPr>
          <p:cNvPr id="11" name="TextBox 10"/>
          <p:cNvSpPr txBox="1"/>
          <p:nvPr/>
        </p:nvSpPr>
        <p:spPr>
          <a:xfrm>
            <a:off x="2267712" y="2212848"/>
            <a:ext cx="384048" cy="320040"/>
          </a:xfrm>
          <a:prstGeom prst="rect">
            <a:avLst/>
          </a:prstGeom>
          <a:noFill/>
        </p:spPr>
        <p:txBody>
          <a:bodyPr wrap="square">
            <a:spAutoFit/>
          </a:bodyPr>
          <a:lstStyle/>
          <a:p>
            <a:pPr algn="ctr"/>
            <a:r>
              <a:rPr sz="2000" b="1">
                <a:solidFill>
                  <a:srgbClr val="69737D"/>
                </a:solidFill>
                <a:latin typeface="Aptos"/>
              </a:rPr>
              <a:t>→</a:t>
            </a:r>
          </a:p>
        </p:txBody>
      </p:sp>
      <p:sp>
        <p:nvSpPr>
          <p:cNvPr id="12" name="Rounded Rectangle 11"/>
          <p:cNvSpPr/>
          <p:nvPr/>
        </p:nvSpPr>
        <p:spPr>
          <a:xfrm>
            <a:off x="2670048" y="1828800"/>
            <a:ext cx="1325880" cy="1234440"/>
          </a:xfrm>
          <a:prstGeom prst="roundRect">
            <a:avLst>
              <a:gd name="adj" fmla="val 8000"/>
            </a:avLst>
          </a:prstGeom>
          <a:solidFill>
            <a:srgbClr val="F4F8FC"/>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127248" y="1627632"/>
            <a:ext cx="411480" cy="411480"/>
          </a:xfrm>
          <a:prstGeom prst="roundRect">
            <a:avLst>
              <a:gd name="adj" fmla="val 8000"/>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27248" y="1700784"/>
            <a:ext cx="411480" cy="182880"/>
          </a:xfrm>
          <a:prstGeom prst="rect">
            <a:avLst/>
          </a:prstGeom>
          <a:noFill/>
        </p:spPr>
        <p:txBody>
          <a:bodyPr wrap="square">
            <a:spAutoFit/>
          </a:bodyPr>
          <a:lstStyle/>
          <a:p>
            <a:pPr algn="ctr"/>
            <a:r>
              <a:rPr sz="1000" b="1">
                <a:solidFill>
                  <a:srgbClr val="FFFFFF"/>
                </a:solidFill>
                <a:latin typeface="Aptos"/>
              </a:rPr>
              <a:t>2</a:t>
            </a:r>
          </a:p>
        </p:txBody>
      </p:sp>
      <p:sp>
        <p:nvSpPr>
          <p:cNvPr id="15" name="TextBox 14"/>
          <p:cNvSpPr txBox="1"/>
          <p:nvPr/>
        </p:nvSpPr>
        <p:spPr>
          <a:xfrm>
            <a:off x="2743200" y="2084831"/>
            <a:ext cx="1179576" cy="502920"/>
          </a:xfrm>
          <a:prstGeom prst="rect">
            <a:avLst/>
          </a:prstGeom>
          <a:noFill/>
        </p:spPr>
        <p:txBody>
          <a:bodyPr wrap="square">
            <a:spAutoFit/>
          </a:bodyPr>
          <a:lstStyle/>
          <a:p>
            <a:pPr algn="ctr"/>
            <a:r>
              <a:rPr sz="1100" b="1">
                <a:solidFill>
                  <a:srgbClr val="112B49"/>
                </a:solidFill>
                <a:latin typeface="Aptos"/>
              </a:rPr>
              <a:t>ADD / SEARCH</a:t>
            </a:r>
            <a:br/>
            <a:r>
              <a:t>BOOK</a:t>
            </a:r>
          </a:p>
        </p:txBody>
      </p:sp>
      <p:sp>
        <p:nvSpPr>
          <p:cNvPr id="16" name="TextBox 15"/>
          <p:cNvSpPr txBox="1"/>
          <p:nvPr/>
        </p:nvSpPr>
        <p:spPr>
          <a:xfrm>
            <a:off x="4023360" y="2212848"/>
            <a:ext cx="384048" cy="320040"/>
          </a:xfrm>
          <a:prstGeom prst="rect">
            <a:avLst/>
          </a:prstGeom>
          <a:noFill/>
        </p:spPr>
        <p:txBody>
          <a:bodyPr wrap="square">
            <a:spAutoFit/>
          </a:bodyPr>
          <a:lstStyle/>
          <a:p>
            <a:pPr algn="ctr"/>
            <a:r>
              <a:rPr sz="2000" b="1">
                <a:solidFill>
                  <a:srgbClr val="69737D"/>
                </a:solidFill>
                <a:latin typeface="Aptos"/>
              </a:rPr>
              <a:t>→</a:t>
            </a:r>
          </a:p>
        </p:txBody>
      </p:sp>
      <p:sp>
        <p:nvSpPr>
          <p:cNvPr id="17" name="Rounded Rectangle 16"/>
          <p:cNvSpPr/>
          <p:nvPr/>
        </p:nvSpPr>
        <p:spPr>
          <a:xfrm>
            <a:off x="4425696" y="1828800"/>
            <a:ext cx="1325880" cy="1234440"/>
          </a:xfrm>
          <a:prstGeom prst="roundRect">
            <a:avLst>
              <a:gd name="adj" fmla="val 8000"/>
            </a:avLst>
          </a:prstGeom>
          <a:solidFill>
            <a:srgbClr val="F4F8FC"/>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882896" y="1627632"/>
            <a:ext cx="411480" cy="411480"/>
          </a:xfrm>
          <a:prstGeom prst="roundRect">
            <a:avLst>
              <a:gd name="adj" fmla="val 8000"/>
            </a:avLst>
          </a:prstGeom>
          <a:solidFill>
            <a:srgbClr val="112B49"/>
          </a:solidFill>
          <a:ln>
            <a:solidFill>
              <a:srgbClr val="112B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882896" y="1700784"/>
            <a:ext cx="411480" cy="182880"/>
          </a:xfrm>
          <a:prstGeom prst="rect">
            <a:avLst/>
          </a:prstGeom>
          <a:noFill/>
        </p:spPr>
        <p:txBody>
          <a:bodyPr wrap="square">
            <a:spAutoFit/>
          </a:bodyPr>
          <a:lstStyle/>
          <a:p>
            <a:pPr algn="ctr"/>
            <a:r>
              <a:rPr sz="1000" b="1">
                <a:solidFill>
                  <a:srgbClr val="FFFFFF"/>
                </a:solidFill>
                <a:latin typeface="Aptos"/>
              </a:rPr>
              <a:t>3</a:t>
            </a:r>
          </a:p>
        </p:txBody>
      </p:sp>
      <p:sp>
        <p:nvSpPr>
          <p:cNvPr id="20" name="TextBox 19"/>
          <p:cNvSpPr txBox="1"/>
          <p:nvPr/>
        </p:nvSpPr>
        <p:spPr>
          <a:xfrm>
            <a:off x="4498848" y="2084831"/>
            <a:ext cx="1179576" cy="502920"/>
          </a:xfrm>
          <a:prstGeom prst="rect">
            <a:avLst/>
          </a:prstGeom>
          <a:noFill/>
        </p:spPr>
        <p:txBody>
          <a:bodyPr wrap="square">
            <a:spAutoFit/>
          </a:bodyPr>
          <a:lstStyle/>
          <a:p>
            <a:pPr algn="ctr"/>
            <a:r>
              <a:rPr sz="1100" b="1">
                <a:solidFill>
                  <a:srgbClr val="112B49"/>
                </a:solidFill>
                <a:latin typeface="Aptos"/>
              </a:rPr>
              <a:t>REGISTER</a:t>
            </a:r>
            <a:br/>
            <a:r>
              <a:t>STUDENT</a:t>
            </a:r>
          </a:p>
        </p:txBody>
      </p:sp>
      <p:sp>
        <p:nvSpPr>
          <p:cNvPr id="21" name="TextBox 20"/>
          <p:cNvSpPr txBox="1"/>
          <p:nvPr/>
        </p:nvSpPr>
        <p:spPr>
          <a:xfrm>
            <a:off x="5779008" y="2212848"/>
            <a:ext cx="384048" cy="320040"/>
          </a:xfrm>
          <a:prstGeom prst="rect">
            <a:avLst/>
          </a:prstGeom>
          <a:noFill/>
        </p:spPr>
        <p:txBody>
          <a:bodyPr wrap="square">
            <a:spAutoFit/>
          </a:bodyPr>
          <a:lstStyle/>
          <a:p>
            <a:pPr algn="ctr"/>
            <a:r>
              <a:rPr sz="2000" b="1">
                <a:solidFill>
                  <a:srgbClr val="69737D"/>
                </a:solidFill>
                <a:latin typeface="Aptos"/>
              </a:rPr>
              <a:t>→</a:t>
            </a:r>
          </a:p>
        </p:txBody>
      </p:sp>
      <p:sp>
        <p:nvSpPr>
          <p:cNvPr id="22" name="Rounded Rectangle 21"/>
          <p:cNvSpPr/>
          <p:nvPr/>
        </p:nvSpPr>
        <p:spPr>
          <a:xfrm>
            <a:off x="6181344" y="1828800"/>
            <a:ext cx="1325880" cy="1234440"/>
          </a:xfrm>
          <a:prstGeom prst="roundRect">
            <a:avLst>
              <a:gd name="adj" fmla="val 8000"/>
            </a:avLst>
          </a:prstGeom>
          <a:solidFill>
            <a:srgbClr val="F4F8FC"/>
          </a:solidFill>
          <a:ln>
            <a:solidFill>
              <a:srgbClr val="DE8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638544" y="1627632"/>
            <a:ext cx="411480" cy="411480"/>
          </a:xfrm>
          <a:prstGeom prst="roundRect">
            <a:avLst>
              <a:gd name="adj" fmla="val 8000"/>
            </a:avLst>
          </a:prstGeom>
          <a:solidFill>
            <a:srgbClr val="DE872B"/>
          </a:solidFill>
          <a:ln>
            <a:solidFill>
              <a:srgbClr val="DE8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38544" y="1700784"/>
            <a:ext cx="411480" cy="182880"/>
          </a:xfrm>
          <a:prstGeom prst="rect">
            <a:avLst/>
          </a:prstGeom>
          <a:noFill/>
        </p:spPr>
        <p:txBody>
          <a:bodyPr wrap="square">
            <a:spAutoFit/>
          </a:bodyPr>
          <a:lstStyle/>
          <a:p>
            <a:pPr algn="ctr"/>
            <a:r>
              <a:rPr sz="1000" b="1">
                <a:solidFill>
                  <a:srgbClr val="FFFFFF"/>
                </a:solidFill>
                <a:latin typeface="Aptos"/>
              </a:rPr>
              <a:t>4</a:t>
            </a:r>
          </a:p>
        </p:txBody>
      </p:sp>
      <p:sp>
        <p:nvSpPr>
          <p:cNvPr id="25" name="TextBox 24"/>
          <p:cNvSpPr txBox="1"/>
          <p:nvPr/>
        </p:nvSpPr>
        <p:spPr>
          <a:xfrm>
            <a:off x="6254496" y="2084831"/>
            <a:ext cx="1179576" cy="502920"/>
          </a:xfrm>
          <a:prstGeom prst="rect">
            <a:avLst/>
          </a:prstGeom>
          <a:noFill/>
        </p:spPr>
        <p:txBody>
          <a:bodyPr wrap="square">
            <a:spAutoFit/>
          </a:bodyPr>
          <a:lstStyle/>
          <a:p>
            <a:pPr algn="ctr"/>
            <a:r>
              <a:rPr sz="1100" b="1">
                <a:solidFill>
                  <a:srgbClr val="112B49"/>
                </a:solidFill>
                <a:latin typeface="Aptos"/>
              </a:rPr>
              <a:t>ISSUE</a:t>
            </a:r>
            <a:br/>
            <a:r>
              <a:t>BOOK</a:t>
            </a:r>
          </a:p>
        </p:txBody>
      </p:sp>
      <p:sp>
        <p:nvSpPr>
          <p:cNvPr id="26" name="TextBox 25"/>
          <p:cNvSpPr txBox="1"/>
          <p:nvPr/>
        </p:nvSpPr>
        <p:spPr>
          <a:xfrm>
            <a:off x="7534656" y="2212848"/>
            <a:ext cx="384048" cy="320040"/>
          </a:xfrm>
          <a:prstGeom prst="rect">
            <a:avLst/>
          </a:prstGeom>
          <a:noFill/>
        </p:spPr>
        <p:txBody>
          <a:bodyPr wrap="square">
            <a:spAutoFit/>
          </a:bodyPr>
          <a:lstStyle/>
          <a:p>
            <a:pPr algn="ctr"/>
            <a:r>
              <a:rPr sz="2000" b="1">
                <a:solidFill>
                  <a:srgbClr val="69737D"/>
                </a:solidFill>
                <a:latin typeface="Aptos"/>
              </a:rPr>
              <a:t>→</a:t>
            </a:r>
          </a:p>
        </p:txBody>
      </p:sp>
      <p:sp>
        <p:nvSpPr>
          <p:cNvPr id="27" name="Rounded Rectangle 26"/>
          <p:cNvSpPr/>
          <p:nvPr/>
        </p:nvSpPr>
        <p:spPr>
          <a:xfrm>
            <a:off x="7936992" y="1828800"/>
            <a:ext cx="1325880" cy="1234440"/>
          </a:xfrm>
          <a:prstGeom prst="roundRect">
            <a:avLst>
              <a:gd name="adj" fmla="val 8000"/>
            </a:avLst>
          </a:prstGeom>
          <a:solidFill>
            <a:srgbClr val="F4F8FC"/>
          </a:solidFill>
          <a:ln>
            <a:solidFill>
              <a:srgbClr val="2A84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394192" y="1627632"/>
            <a:ext cx="411480" cy="411480"/>
          </a:xfrm>
          <a:prstGeom prst="roundRect">
            <a:avLst>
              <a:gd name="adj" fmla="val 8000"/>
            </a:avLst>
          </a:prstGeom>
          <a:solidFill>
            <a:srgbClr val="2A8459"/>
          </a:solidFill>
          <a:ln>
            <a:solidFill>
              <a:srgbClr val="2A84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94192" y="1700784"/>
            <a:ext cx="411480" cy="182880"/>
          </a:xfrm>
          <a:prstGeom prst="rect">
            <a:avLst/>
          </a:prstGeom>
          <a:noFill/>
        </p:spPr>
        <p:txBody>
          <a:bodyPr wrap="square">
            <a:spAutoFit/>
          </a:bodyPr>
          <a:lstStyle/>
          <a:p>
            <a:pPr algn="ctr"/>
            <a:r>
              <a:rPr sz="1000" b="1">
                <a:solidFill>
                  <a:srgbClr val="FFFFFF"/>
                </a:solidFill>
                <a:latin typeface="Aptos"/>
              </a:rPr>
              <a:t>5</a:t>
            </a:r>
          </a:p>
        </p:txBody>
      </p:sp>
      <p:sp>
        <p:nvSpPr>
          <p:cNvPr id="30" name="TextBox 29"/>
          <p:cNvSpPr txBox="1"/>
          <p:nvPr/>
        </p:nvSpPr>
        <p:spPr>
          <a:xfrm>
            <a:off x="8010144" y="2084831"/>
            <a:ext cx="1179576" cy="502920"/>
          </a:xfrm>
          <a:prstGeom prst="rect">
            <a:avLst/>
          </a:prstGeom>
          <a:noFill/>
        </p:spPr>
        <p:txBody>
          <a:bodyPr wrap="square">
            <a:spAutoFit/>
          </a:bodyPr>
          <a:lstStyle/>
          <a:p>
            <a:pPr algn="ctr"/>
            <a:r>
              <a:rPr sz="1100" b="1">
                <a:solidFill>
                  <a:srgbClr val="112B49"/>
                </a:solidFill>
                <a:latin typeface="Aptos"/>
              </a:rPr>
              <a:t>RETURN</a:t>
            </a:r>
            <a:br/>
            <a:r>
              <a:t>BOOK</a:t>
            </a:r>
          </a:p>
        </p:txBody>
      </p:sp>
      <p:sp>
        <p:nvSpPr>
          <p:cNvPr id="31" name="TextBox 30"/>
          <p:cNvSpPr txBox="1"/>
          <p:nvPr/>
        </p:nvSpPr>
        <p:spPr>
          <a:xfrm>
            <a:off x="9290304" y="2212848"/>
            <a:ext cx="384048" cy="320040"/>
          </a:xfrm>
          <a:prstGeom prst="rect">
            <a:avLst/>
          </a:prstGeom>
          <a:noFill/>
        </p:spPr>
        <p:txBody>
          <a:bodyPr wrap="square">
            <a:spAutoFit/>
          </a:bodyPr>
          <a:lstStyle/>
          <a:p>
            <a:pPr algn="ctr"/>
            <a:r>
              <a:rPr sz="2000" b="1">
                <a:solidFill>
                  <a:srgbClr val="69737D"/>
                </a:solidFill>
                <a:latin typeface="Aptos"/>
              </a:rPr>
              <a:t>→</a:t>
            </a:r>
          </a:p>
        </p:txBody>
      </p:sp>
      <p:sp>
        <p:nvSpPr>
          <p:cNvPr id="32" name="Rounded Rectangle 31"/>
          <p:cNvSpPr/>
          <p:nvPr/>
        </p:nvSpPr>
        <p:spPr>
          <a:xfrm>
            <a:off x="9692640" y="1828800"/>
            <a:ext cx="1325880" cy="1234440"/>
          </a:xfrm>
          <a:prstGeom prst="roundRect">
            <a:avLst>
              <a:gd name="adj" fmla="val 8000"/>
            </a:avLst>
          </a:prstGeom>
          <a:solidFill>
            <a:srgbClr val="F4F8FC"/>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0149840" y="1627632"/>
            <a:ext cx="411480" cy="411480"/>
          </a:xfrm>
          <a:prstGeom prst="roundRect">
            <a:avLst>
              <a:gd name="adj" fmla="val 8000"/>
            </a:avLst>
          </a:prstGeom>
          <a:solidFill>
            <a:srgbClr val="2368AA"/>
          </a:solidFill>
          <a:ln>
            <a:solidFill>
              <a:srgbClr val="236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149840" y="1700784"/>
            <a:ext cx="411480" cy="182880"/>
          </a:xfrm>
          <a:prstGeom prst="rect">
            <a:avLst/>
          </a:prstGeom>
          <a:noFill/>
        </p:spPr>
        <p:txBody>
          <a:bodyPr wrap="square">
            <a:spAutoFit/>
          </a:bodyPr>
          <a:lstStyle/>
          <a:p>
            <a:pPr algn="ctr"/>
            <a:r>
              <a:rPr sz="1000" b="1">
                <a:solidFill>
                  <a:srgbClr val="FFFFFF"/>
                </a:solidFill>
                <a:latin typeface="Aptos"/>
              </a:rPr>
              <a:t>6</a:t>
            </a:r>
          </a:p>
        </p:txBody>
      </p:sp>
      <p:sp>
        <p:nvSpPr>
          <p:cNvPr id="35" name="TextBox 34"/>
          <p:cNvSpPr txBox="1"/>
          <p:nvPr/>
        </p:nvSpPr>
        <p:spPr>
          <a:xfrm>
            <a:off x="9765792" y="2084831"/>
            <a:ext cx="1179576" cy="502920"/>
          </a:xfrm>
          <a:prstGeom prst="rect">
            <a:avLst/>
          </a:prstGeom>
          <a:noFill/>
        </p:spPr>
        <p:txBody>
          <a:bodyPr wrap="square">
            <a:spAutoFit/>
          </a:bodyPr>
          <a:lstStyle/>
          <a:p>
            <a:pPr algn="ctr"/>
            <a:r>
              <a:rPr sz="1100" b="1">
                <a:solidFill>
                  <a:srgbClr val="112B49"/>
                </a:solidFill>
                <a:latin typeface="Aptos"/>
              </a:rPr>
              <a:t>UPDATE</a:t>
            </a:r>
            <a:br/>
            <a:r>
              <a:t>DATABASE</a:t>
            </a:r>
          </a:p>
        </p:txBody>
      </p:sp>
      <p:sp>
        <p:nvSpPr>
          <p:cNvPr id="36" name="TextBox 35"/>
          <p:cNvSpPr txBox="1"/>
          <p:nvPr/>
        </p:nvSpPr>
        <p:spPr>
          <a:xfrm>
            <a:off x="914400" y="3703320"/>
            <a:ext cx="2743200" cy="320040"/>
          </a:xfrm>
          <a:prstGeom prst="rect">
            <a:avLst/>
          </a:prstGeom>
          <a:noFill/>
        </p:spPr>
        <p:txBody>
          <a:bodyPr wrap="square">
            <a:spAutoFit/>
          </a:bodyPr>
          <a:lstStyle/>
          <a:p>
            <a:pPr algn="l"/>
            <a:r>
              <a:rPr sz="1700" b="1">
                <a:solidFill>
                  <a:srgbClr val="112B49"/>
                </a:solidFill>
                <a:latin typeface="Aptos"/>
              </a:rPr>
              <a:t>Final database result</a:t>
            </a:r>
          </a:p>
        </p:txBody>
      </p:sp>
      <p:sp>
        <p:nvSpPr>
          <p:cNvPr id="37" name="Rounded Rectangle 36"/>
          <p:cNvSpPr/>
          <p:nvPr/>
        </p:nvSpPr>
        <p:spPr>
          <a:xfrm>
            <a:off x="914400" y="4160520"/>
            <a:ext cx="2240280" cy="822960"/>
          </a:xfrm>
          <a:prstGeom prst="roundRect">
            <a:avLst>
              <a:gd name="adj" fmla="val 8000"/>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24128" y="4325112"/>
            <a:ext cx="914400" cy="228600"/>
          </a:xfrm>
          <a:prstGeom prst="rect">
            <a:avLst/>
          </a:prstGeom>
          <a:noFill/>
        </p:spPr>
        <p:txBody>
          <a:bodyPr wrap="square">
            <a:spAutoFit/>
          </a:bodyPr>
          <a:lstStyle/>
          <a:p>
            <a:pPr algn="l"/>
            <a:r>
              <a:rPr sz="1100" b="1">
                <a:solidFill>
                  <a:srgbClr val="69737D"/>
                </a:solidFill>
                <a:latin typeface="Aptos"/>
              </a:rPr>
              <a:t>Books</a:t>
            </a:r>
          </a:p>
        </p:txBody>
      </p:sp>
      <p:sp>
        <p:nvSpPr>
          <p:cNvPr id="39" name="TextBox 38"/>
          <p:cNvSpPr txBox="1"/>
          <p:nvPr/>
        </p:nvSpPr>
        <p:spPr>
          <a:xfrm>
            <a:off x="1024128" y="4645152"/>
            <a:ext cx="1965960" cy="228600"/>
          </a:xfrm>
          <a:prstGeom prst="rect">
            <a:avLst/>
          </a:prstGeom>
          <a:noFill/>
        </p:spPr>
        <p:txBody>
          <a:bodyPr wrap="square">
            <a:spAutoFit/>
          </a:bodyPr>
          <a:lstStyle/>
          <a:p>
            <a:pPr algn="l"/>
            <a:r>
              <a:rPr sz="1200" b="1">
                <a:solidFill>
                  <a:srgbClr val="112B49"/>
                </a:solidFill>
                <a:latin typeface="Aptos"/>
              </a:rPr>
              <a:t>250 records</a:t>
            </a:r>
          </a:p>
        </p:txBody>
      </p:sp>
      <p:sp>
        <p:nvSpPr>
          <p:cNvPr id="40" name="Rounded Rectangle 39"/>
          <p:cNvSpPr/>
          <p:nvPr/>
        </p:nvSpPr>
        <p:spPr>
          <a:xfrm>
            <a:off x="3520440" y="4160520"/>
            <a:ext cx="2240280" cy="822960"/>
          </a:xfrm>
          <a:prstGeom prst="roundRect">
            <a:avLst>
              <a:gd name="adj" fmla="val 8000"/>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630168" y="4325112"/>
            <a:ext cx="914400" cy="228600"/>
          </a:xfrm>
          <a:prstGeom prst="rect">
            <a:avLst/>
          </a:prstGeom>
          <a:noFill/>
        </p:spPr>
        <p:txBody>
          <a:bodyPr wrap="square">
            <a:spAutoFit/>
          </a:bodyPr>
          <a:lstStyle/>
          <a:p>
            <a:pPr algn="l"/>
            <a:r>
              <a:rPr sz="1100" b="1">
                <a:solidFill>
                  <a:srgbClr val="69737D"/>
                </a:solidFill>
                <a:latin typeface="Aptos"/>
              </a:rPr>
              <a:t>Students</a:t>
            </a:r>
          </a:p>
        </p:txBody>
      </p:sp>
      <p:sp>
        <p:nvSpPr>
          <p:cNvPr id="42" name="TextBox 41"/>
          <p:cNvSpPr txBox="1"/>
          <p:nvPr/>
        </p:nvSpPr>
        <p:spPr>
          <a:xfrm>
            <a:off x="3630168" y="4645152"/>
            <a:ext cx="1965960" cy="228600"/>
          </a:xfrm>
          <a:prstGeom prst="rect">
            <a:avLst/>
          </a:prstGeom>
          <a:noFill/>
        </p:spPr>
        <p:txBody>
          <a:bodyPr wrap="square">
            <a:spAutoFit/>
          </a:bodyPr>
          <a:lstStyle/>
          <a:p>
            <a:pPr algn="l"/>
            <a:r>
              <a:rPr sz="1200" b="1">
                <a:solidFill>
                  <a:srgbClr val="112B49"/>
                </a:solidFill>
                <a:latin typeface="Aptos"/>
              </a:rPr>
              <a:t>180 records</a:t>
            </a:r>
          </a:p>
        </p:txBody>
      </p:sp>
      <p:sp>
        <p:nvSpPr>
          <p:cNvPr id="43" name="Rounded Rectangle 42"/>
          <p:cNvSpPr/>
          <p:nvPr/>
        </p:nvSpPr>
        <p:spPr>
          <a:xfrm>
            <a:off x="6126480" y="4160520"/>
            <a:ext cx="2240280" cy="822960"/>
          </a:xfrm>
          <a:prstGeom prst="roundRect">
            <a:avLst>
              <a:gd name="adj" fmla="val 8000"/>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236208" y="4325112"/>
            <a:ext cx="914400" cy="228600"/>
          </a:xfrm>
          <a:prstGeom prst="rect">
            <a:avLst/>
          </a:prstGeom>
          <a:noFill/>
        </p:spPr>
        <p:txBody>
          <a:bodyPr wrap="square">
            <a:spAutoFit/>
          </a:bodyPr>
          <a:lstStyle/>
          <a:p>
            <a:pPr algn="l"/>
            <a:r>
              <a:rPr sz="1100" b="1">
                <a:solidFill>
                  <a:srgbClr val="69737D"/>
                </a:solidFill>
                <a:latin typeface="Aptos"/>
              </a:rPr>
              <a:t>Authors</a:t>
            </a:r>
          </a:p>
        </p:txBody>
      </p:sp>
      <p:sp>
        <p:nvSpPr>
          <p:cNvPr id="45" name="TextBox 44"/>
          <p:cNvSpPr txBox="1"/>
          <p:nvPr/>
        </p:nvSpPr>
        <p:spPr>
          <a:xfrm>
            <a:off x="6236208" y="4645152"/>
            <a:ext cx="1965960" cy="228600"/>
          </a:xfrm>
          <a:prstGeom prst="rect">
            <a:avLst/>
          </a:prstGeom>
          <a:noFill/>
        </p:spPr>
        <p:txBody>
          <a:bodyPr wrap="square">
            <a:spAutoFit/>
          </a:bodyPr>
          <a:lstStyle/>
          <a:p>
            <a:pPr algn="l"/>
            <a:r>
              <a:rPr sz="1200" b="1">
                <a:solidFill>
                  <a:srgbClr val="112B49"/>
                </a:solidFill>
                <a:latin typeface="Aptos"/>
              </a:rPr>
              <a:t>45 records</a:t>
            </a:r>
          </a:p>
        </p:txBody>
      </p:sp>
      <p:sp>
        <p:nvSpPr>
          <p:cNvPr id="46" name="Rounded Rectangle 45"/>
          <p:cNvSpPr/>
          <p:nvPr/>
        </p:nvSpPr>
        <p:spPr>
          <a:xfrm>
            <a:off x="8732520" y="4160520"/>
            <a:ext cx="2240280" cy="822960"/>
          </a:xfrm>
          <a:prstGeom prst="roundRect">
            <a:avLst>
              <a:gd name="adj" fmla="val 8000"/>
            </a:avLst>
          </a:prstGeom>
          <a:solidFill>
            <a:srgbClr val="F4F8FC"/>
          </a:solidFill>
          <a:ln>
            <a:solidFill>
              <a:srgbClr val="DDE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842248" y="4325112"/>
            <a:ext cx="914400" cy="228600"/>
          </a:xfrm>
          <a:prstGeom prst="rect">
            <a:avLst/>
          </a:prstGeom>
          <a:noFill/>
        </p:spPr>
        <p:txBody>
          <a:bodyPr wrap="square">
            <a:spAutoFit/>
          </a:bodyPr>
          <a:lstStyle/>
          <a:p>
            <a:pPr algn="l"/>
            <a:r>
              <a:rPr sz="1100" b="1">
                <a:solidFill>
                  <a:srgbClr val="69737D"/>
                </a:solidFill>
                <a:latin typeface="Aptos"/>
              </a:rPr>
              <a:t>Issues</a:t>
            </a:r>
          </a:p>
        </p:txBody>
      </p:sp>
      <p:sp>
        <p:nvSpPr>
          <p:cNvPr id="48" name="TextBox 47"/>
          <p:cNvSpPr txBox="1"/>
          <p:nvPr/>
        </p:nvSpPr>
        <p:spPr>
          <a:xfrm>
            <a:off x="8842248" y="4645152"/>
            <a:ext cx="1965960" cy="228600"/>
          </a:xfrm>
          <a:prstGeom prst="rect">
            <a:avLst/>
          </a:prstGeom>
          <a:noFill/>
        </p:spPr>
        <p:txBody>
          <a:bodyPr wrap="square">
            <a:spAutoFit/>
          </a:bodyPr>
          <a:lstStyle/>
          <a:p>
            <a:pPr algn="l"/>
            <a:r>
              <a:rPr sz="1200" b="1">
                <a:solidFill>
                  <a:srgbClr val="112B49"/>
                </a:solidFill>
                <a:latin typeface="Aptos"/>
              </a:rPr>
              <a:t>36 active</a:t>
            </a:r>
          </a:p>
        </p:txBody>
      </p:sp>
      <p:sp>
        <p:nvSpPr>
          <p:cNvPr id="49" name="TextBox 48"/>
          <p:cNvSpPr txBox="1"/>
          <p:nvPr/>
        </p:nvSpPr>
        <p:spPr>
          <a:xfrm>
            <a:off x="914400" y="5486400"/>
            <a:ext cx="9875520" cy="274320"/>
          </a:xfrm>
          <a:prstGeom prst="rect">
            <a:avLst/>
          </a:prstGeom>
          <a:noFill/>
        </p:spPr>
        <p:txBody>
          <a:bodyPr wrap="square">
            <a:spAutoFit/>
          </a:bodyPr>
          <a:lstStyle/>
          <a:p>
            <a:pPr algn="ctr"/>
            <a:r>
              <a:rPr sz="1100" b="0">
                <a:solidFill>
                  <a:srgbClr val="69737D"/>
                </a:solidFill>
                <a:latin typeface="Aptos"/>
              </a:rPr>
              <a:t>The output screens demonstrate the intended workflow from user entry to database update.</a:t>
            </a:r>
          </a:p>
        </p:txBody>
      </p:sp>
      <p:sp>
        <p:nvSpPr>
          <p:cNvPr id="50" name="TextBox 49"/>
          <p:cNvSpPr txBox="1"/>
          <p:nvPr/>
        </p:nvSpPr>
        <p:spPr>
          <a:xfrm>
            <a:off x="530352" y="6510528"/>
            <a:ext cx="11064240" cy="201168"/>
          </a:xfrm>
          <a:prstGeom prst="rect">
            <a:avLst/>
          </a:prstGeom>
          <a:noFill/>
        </p:spPr>
        <p:txBody>
          <a:bodyPr wrap="square">
            <a:spAutoFit/>
          </a:bodyPr>
          <a:lstStyle/>
          <a:p>
            <a:pPr algn="r"/>
            <a:r>
              <a:rPr sz="900" b="0">
                <a:solidFill>
                  <a:srgbClr val="69737D"/>
                </a:solidFill>
                <a:latin typeface="Aptos"/>
              </a:rPr>
              <a:t>Presentation-ready illustrative outputs based on the project entities and objectives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F1A2C8F-98D4-76E7-F5C3-5A8B2CC475FF}"/>
              </a:ext>
            </a:extLst>
          </p:cNvPr>
          <p:cNvSpPr txBox="1"/>
          <p:nvPr/>
        </p:nvSpPr>
        <p:spPr>
          <a:xfrm>
            <a:off x="520118" y="1199626"/>
            <a:ext cx="6968574" cy="523220"/>
          </a:xfrm>
          <a:prstGeom prst="rect">
            <a:avLst/>
          </a:prstGeom>
          <a:noFill/>
        </p:spPr>
        <p:txBody>
          <a:bodyPr wrap="none" rtlCol="0">
            <a:spAutoFit/>
          </a:bodyPr>
          <a:lstStyle/>
          <a:p>
            <a:r>
              <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Advantages of Library Management System</a:t>
            </a:r>
          </a:p>
        </p:txBody>
      </p:sp>
      <p:sp>
        <p:nvSpPr>
          <p:cNvPr id="5" name="TextBox 4">
            <a:extLst>
              <a:ext uri="{FF2B5EF4-FFF2-40B4-BE49-F238E27FC236}">
                <a16:creationId xmlns:a16="http://schemas.microsoft.com/office/drawing/2014/main" id="{008879DB-6118-FAD6-B635-9B4DF7F71169}"/>
              </a:ext>
            </a:extLst>
          </p:cNvPr>
          <p:cNvSpPr txBox="1"/>
          <p:nvPr/>
        </p:nvSpPr>
        <p:spPr>
          <a:xfrm>
            <a:off x="629174" y="1946246"/>
            <a:ext cx="9504727" cy="4062651"/>
          </a:xfrm>
          <a:prstGeom prst="rect">
            <a:avLst/>
          </a:prstGeom>
          <a:noFill/>
        </p:spPr>
        <p:txBody>
          <a:bodyPr wrap="square" rtlCol="0">
            <a:sp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Easy Book Management</a:t>
            </a:r>
            <a:r>
              <a:rPr lang="en-IN" sz="2400" dirty="0">
                <a:latin typeface="Times New Roman" panose="02020603050405020304" pitchFamily="18" charset="0"/>
                <a:cs typeface="Times New Roman" panose="02020603050405020304" pitchFamily="18" charset="0"/>
              </a:rPr>
              <a:t> – Stores book details such as title, author, category, and copies.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Quick Book Search</a:t>
            </a:r>
            <a:r>
              <a:rPr lang="en-IN" sz="2400" dirty="0">
                <a:latin typeface="Times New Roman" panose="02020603050405020304" pitchFamily="18" charset="0"/>
                <a:cs typeface="Times New Roman" panose="02020603050405020304" pitchFamily="18" charset="0"/>
              </a:rPr>
              <a:t> – Students and librarians can easily find book information.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Issue &amp; Return Tracking</a:t>
            </a:r>
            <a:r>
              <a:rPr lang="en-IN" sz="2400" dirty="0">
                <a:latin typeface="Times New Roman" panose="02020603050405020304" pitchFamily="18" charset="0"/>
                <a:cs typeface="Times New Roman" panose="02020603050405020304" pitchFamily="18" charset="0"/>
              </a:rPr>
              <a:t> – Keeps accurate records of issued and returned books.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Reduces Manual Work</a:t>
            </a:r>
            <a:r>
              <a:rPr lang="en-IN" sz="2400" dirty="0">
                <a:latin typeface="Times New Roman" panose="02020603050405020304" pitchFamily="18" charset="0"/>
                <a:cs typeface="Times New Roman" panose="02020603050405020304" pitchFamily="18" charset="0"/>
              </a:rPr>
              <a:t> – Minimizes paperwork and saves time.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Data Accuracy</a:t>
            </a:r>
            <a:r>
              <a:rPr lang="en-IN" sz="2400" dirty="0">
                <a:latin typeface="Times New Roman" panose="02020603050405020304" pitchFamily="18" charset="0"/>
                <a:cs typeface="Times New Roman" panose="02020603050405020304" pitchFamily="18" charset="0"/>
              </a:rPr>
              <a:t> – Reduces errors and duplicate records.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Better Record Security</a:t>
            </a:r>
            <a:r>
              <a:rPr lang="en-IN" sz="2400" dirty="0">
                <a:latin typeface="Times New Roman" panose="02020603050405020304" pitchFamily="18" charset="0"/>
                <a:cs typeface="Times New Roman" panose="02020603050405020304" pitchFamily="18" charset="0"/>
              </a:rPr>
              <a:t> – Student, book, and issue information can be stored systematically.</a:t>
            </a:r>
          </a:p>
          <a:p>
            <a:endParaRPr lang="en-IN" dirty="0"/>
          </a:p>
        </p:txBody>
      </p:sp>
    </p:spTree>
    <p:extLst>
      <p:ext uri="{BB962C8B-B14F-4D97-AF65-F5344CB8AC3E}">
        <p14:creationId xmlns:p14="http://schemas.microsoft.com/office/powerpoint/2010/main" val="4147442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F3E31-2B00-272C-C29A-8488D78D9F5B}"/>
              </a:ext>
            </a:extLst>
          </p:cNvPr>
          <p:cNvSpPr txBox="1"/>
          <p:nvPr/>
        </p:nvSpPr>
        <p:spPr>
          <a:xfrm>
            <a:off x="411060" y="1174460"/>
            <a:ext cx="7386959" cy="523220"/>
          </a:xfrm>
          <a:prstGeom prst="rect">
            <a:avLst/>
          </a:prstGeom>
          <a:noFill/>
        </p:spPr>
        <p:txBody>
          <a:bodyPr wrap="none" rtlCol="0">
            <a:spAutoFit/>
          </a:bodyPr>
          <a:lstStyle/>
          <a:p>
            <a:r>
              <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Disadvantages of Library Management System</a:t>
            </a:r>
          </a:p>
        </p:txBody>
      </p:sp>
      <p:sp>
        <p:nvSpPr>
          <p:cNvPr id="4" name="TextBox 3">
            <a:extLst>
              <a:ext uri="{FF2B5EF4-FFF2-40B4-BE49-F238E27FC236}">
                <a16:creationId xmlns:a16="http://schemas.microsoft.com/office/drawing/2014/main" id="{8E784947-3191-6DC4-07A5-CA713B5806D8}"/>
              </a:ext>
            </a:extLst>
          </p:cNvPr>
          <p:cNvSpPr txBox="1"/>
          <p:nvPr/>
        </p:nvSpPr>
        <p:spPr>
          <a:xfrm>
            <a:off x="469783" y="1870745"/>
            <a:ext cx="9437615" cy="4062651"/>
          </a:xfrm>
          <a:prstGeom prst="rect">
            <a:avLst/>
          </a:prstGeom>
          <a:noFill/>
        </p:spPr>
        <p:txBody>
          <a:bodyPr wrap="square" rtlCol="0">
            <a:spAutoFit/>
          </a:bodyPr>
          <a:lstStyle/>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Initial Cost</a:t>
            </a:r>
            <a:r>
              <a:rPr lang="en-IN" sz="2400" dirty="0">
                <a:latin typeface="Times New Roman" panose="02020603050405020304" pitchFamily="18" charset="0"/>
                <a:cs typeface="Times New Roman" panose="02020603050405020304" pitchFamily="18" charset="0"/>
              </a:rPr>
              <a:t> – Requires computers, software, and database setup.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Technical Knowledge</a:t>
            </a:r>
            <a:r>
              <a:rPr lang="en-IN" sz="2400" dirty="0">
                <a:latin typeface="Times New Roman" panose="02020603050405020304" pitchFamily="18" charset="0"/>
                <a:cs typeface="Times New Roman" panose="02020603050405020304" pitchFamily="18" charset="0"/>
              </a:rPr>
              <a:t> – Librarians need basic computer knowledge.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System Failure Risk</a:t>
            </a:r>
            <a:r>
              <a:rPr lang="en-IN" sz="2400" dirty="0">
                <a:latin typeface="Times New Roman" panose="02020603050405020304" pitchFamily="18" charset="0"/>
                <a:cs typeface="Times New Roman" panose="02020603050405020304" pitchFamily="18" charset="0"/>
              </a:rPr>
              <a:t> – Hardware or software problems may temporarily stop operations.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Maintenance Required</a:t>
            </a:r>
            <a:r>
              <a:rPr lang="en-IN" sz="2400" dirty="0">
                <a:latin typeface="Times New Roman" panose="02020603050405020304" pitchFamily="18" charset="0"/>
                <a:cs typeface="Times New Roman" panose="02020603050405020304" pitchFamily="18" charset="0"/>
              </a:rPr>
              <a:t> – Database and software need regular maintenance.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Data Security Issues</a:t>
            </a:r>
            <a:r>
              <a:rPr lang="en-IN" sz="2400" dirty="0">
                <a:latin typeface="Times New Roman" panose="02020603050405020304" pitchFamily="18" charset="0"/>
                <a:cs typeface="Times New Roman" panose="02020603050405020304" pitchFamily="18" charset="0"/>
              </a:rPr>
              <a:t> – Unauthorized access can cause data loss or misuse. </a:t>
            </a:r>
          </a:p>
          <a:p>
            <a:pPr marL="342900" lvl="0" indent="-342900">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Training Required</a:t>
            </a:r>
            <a:r>
              <a:rPr lang="en-IN" sz="2400" dirty="0">
                <a:latin typeface="Times New Roman" panose="02020603050405020304" pitchFamily="18" charset="0"/>
                <a:cs typeface="Times New Roman" panose="02020603050405020304" pitchFamily="18" charset="0"/>
              </a:rPr>
              <a:t> – Users may need training to use the system effectively. </a:t>
            </a:r>
          </a:p>
          <a:p>
            <a:endParaRPr lang="en-IN" dirty="0"/>
          </a:p>
        </p:txBody>
      </p:sp>
    </p:spTree>
    <p:extLst>
      <p:ext uri="{BB962C8B-B14F-4D97-AF65-F5344CB8AC3E}">
        <p14:creationId xmlns:p14="http://schemas.microsoft.com/office/powerpoint/2010/main" val="2107449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396598-DE1A-55BA-C91C-F4ABBA3717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99101" y="1566334"/>
            <a:ext cx="6083300" cy="4055533"/>
          </a:xfrm>
          <a:prstGeom prst="rect">
            <a:avLst/>
          </a:prstGeom>
        </p:spPr>
      </p:pic>
      <p:sp>
        <p:nvSpPr>
          <p:cNvPr id="5" name="TextBox 4">
            <a:extLst>
              <a:ext uri="{FF2B5EF4-FFF2-40B4-BE49-F238E27FC236}">
                <a16:creationId xmlns:a16="http://schemas.microsoft.com/office/drawing/2014/main" id="{7D6104F5-79A5-3628-3E55-D4D6F808C04F}"/>
              </a:ext>
            </a:extLst>
          </p:cNvPr>
          <p:cNvSpPr txBox="1"/>
          <p:nvPr/>
        </p:nvSpPr>
        <p:spPr>
          <a:xfrm>
            <a:off x="999066" y="1855162"/>
            <a:ext cx="4334934" cy="3477875"/>
          </a:xfrm>
          <a:prstGeom prst="rect">
            <a:avLst/>
          </a:prstGeom>
          <a:noFill/>
        </p:spPr>
        <p:txBody>
          <a:bodyPr wrap="square">
            <a:spAutoFit/>
          </a:bodyPr>
          <a:lstStyle/>
          <a:p>
            <a:r>
              <a:rPr lang="en-US" sz="2000" dirty="0"/>
              <a:t>The Library Management System provides an efficient and organized way to manage students, books, authors, librarians, and issue records. By using a database and proper relationships between entities, it reduces manual work, improves data accuracy, and makes book issue and return tracking easier. Overall, the system helps the library operate faster, more accurately, and systematically.</a:t>
            </a:r>
          </a:p>
        </p:txBody>
      </p:sp>
      <p:sp>
        <p:nvSpPr>
          <p:cNvPr id="2" name="TextBox 1">
            <a:extLst>
              <a:ext uri="{FF2B5EF4-FFF2-40B4-BE49-F238E27FC236}">
                <a16:creationId xmlns:a16="http://schemas.microsoft.com/office/drawing/2014/main" id="{8ECF49B2-9865-37CA-C947-DAEE23D3A297}"/>
              </a:ext>
            </a:extLst>
          </p:cNvPr>
          <p:cNvSpPr txBox="1"/>
          <p:nvPr/>
        </p:nvSpPr>
        <p:spPr>
          <a:xfrm>
            <a:off x="4995332" y="866801"/>
            <a:ext cx="2030307" cy="369332"/>
          </a:xfrm>
          <a:prstGeom prst="rect">
            <a:avLst/>
          </a:prstGeom>
          <a:noFill/>
        </p:spPr>
        <p:txBody>
          <a:bodyPr wrap="square" rtlCol="0">
            <a:spAutoFit/>
          </a:bodyPr>
          <a:lstStyle/>
          <a:p>
            <a:r>
              <a:rPr lang="en-US" dirty="0">
                <a:solidFill>
                  <a:srgbClr val="C00000"/>
                </a:solidFill>
                <a:latin typeface="Arial Black" panose="020B0A04020102020204" pitchFamily="34" charset="0"/>
              </a:rPr>
              <a:t>CONCLUSION</a:t>
            </a:r>
          </a:p>
        </p:txBody>
      </p:sp>
    </p:spTree>
    <p:extLst>
      <p:ext uri="{BB962C8B-B14F-4D97-AF65-F5344CB8AC3E}">
        <p14:creationId xmlns:p14="http://schemas.microsoft.com/office/powerpoint/2010/main" val="2080396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8AFD40-9E41-3141-BF0E-918DD2E29E7D}"/>
              </a:ext>
            </a:extLst>
          </p:cNvPr>
          <p:cNvSpPr txBox="1"/>
          <p:nvPr/>
        </p:nvSpPr>
        <p:spPr>
          <a:xfrm>
            <a:off x="3393440" y="2712720"/>
            <a:ext cx="6045200" cy="1569660"/>
          </a:xfrm>
          <a:prstGeom prst="rect">
            <a:avLst/>
          </a:prstGeom>
          <a:noFill/>
        </p:spPr>
        <p:txBody>
          <a:bodyPr wrap="square">
            <a:spAutoFit/>
          </a:bodyPr>
          <a:lstStyle/>
          <a:p>
            <a:pPr lvl="0"/>
            <a:r>
              <a:rPr lang="en-IN" sz="9600" b="1" i="1" dirty="0">
                <a:solidFill>
                  <a:schemeClr val="accent2">
                    <a:lumMod val="75000"/>
                  </a:schemeClr>
                </a:solidFill>
                <a:latin typeface="Arial Narrow" panose="020B0606020202030204" pitchFamily="34" charset="0"/>
              </a:rPr>
              <a:t>Thank you</a:t>
            </a:r>
          </a:p>
        </p:txBody>
      </p:sp>
    </p:spTree>
    <p:extLst>
      <p:ext uri="{BB962C8B-B14F-4D97-AF65-F5344CB8AC3E}">
        <p14:creationId xmlns:p14="http://schemas.microsoft.com/office/powerpoint/2010/main" val="1448005960"/>
      </p:ext>
    </p:extLst>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Office Theme">
      <a:fillStyleLst>
        <a:solidFill>
          <a:schemeClr val="phClr"/>
        </a:solidFill>
        <a:gradFill rotWithShape="1">
          <a:gsLst>
            <a:gs pos="0">
              <a:schemeClr val="phClr">
                <a:tint val="67000"/>
                <a:satMod val="104999"/>
                <a:lumMod val="110000"/>
              </a:schemeClr>
            </a:gs>
            <a:gs pos="50000">
              <a:schemeClr val="phClr">
                <a:tint val="73000"/>
                <a:satMod val="103000"/>
                <a:lumMod val="104999"/>
              </a:schemeClr>
            </a:gs>
            <a:gs pos="100000">
              <a:schemeClr val="phClr">
                <a:tint val="81000"/>
                <a:satMod val="109000"/>
                <a:lumMod val="104999"/>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a:solidFill>
            <a:schemeClr val="phClr"/>
          </a:solidFill>
          <a:prstDash val="solid"/>
          <a:miter lim="800000"/>
        </a:ln>
        <a:ln w="12700" cap="flat">
          <a:solidFill>
            <a:schemeClr val="phClr"/>
          </a:solidFill>
          <a:prstDash val="solid"/>
          <a:miter lim="800000"/>
        </a:ln>
        <a:ln w="19050" cap="flat">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690</TotalTime>
  <Words>921</Words>
  <Application>Microsoft Office PowerPoint</Application>
  <PresentationFormat>Widescreen</PresentationFormat>
  <Paragraphs>231</Paragraphs>
  <Slides>18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Wingdings</vt:lpstr>
      <vt:lpstr>Calibri</vt:lpstr>
      <vt:lpstr>Calibri Light</vt:lpstr>
      <vt:lpstr>Arial Black</vt:lpstr>
      <vt:lpstr>Bookman Old Style</vt:lpstr>
      <vt:lpstr>Aptos</vt:lpstr>
      <vt:lpstr>Arial Narrow</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Jyothika</dc:creator>
  <cp:lastModifiedBy>RamBabu G</cp:lastModifiedBy>
  <cp:revision>56</cp:revision>
  <dcterms:created xsi:type="dcterms:W3CDTF">2025-05-29T13:02:32Z</dcterms:created>
  <dcterms:modified xsi:type="dcterms:W3CDTF">2026-09-30T15:58:29Z</dcterms:modified>
</cp:coreProperties>
</file>